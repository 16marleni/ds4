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8288000" cy="10287000"/>
  <p:notesSz cx="6858000" cy="9144000"/>
  <p:embeddedFontLst>
    <p:embeddedFont>
      <p:font typeface="Courier Prime" panose="020B0604020202020204" charset="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3" d="100"/>
          <a:sy n="43" d="100"/>
        </p:scale>
        <p:origin x="936" y="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transition spd="slow">
    <p:push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transition spd="slow">
    <p:push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transition spd="slow">
    <p:push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transition spd="slow">
    <p:push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11/26/2025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transition spd="slow">
    <p:push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11/26/2025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transition spd="slow">
    <p:push di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11/26/2025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transition spd="slow">
    <p:push di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transition spd="slow">
    <p:push di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transition spd="slow">
    <p:push di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transition spd="slow">
    <p:push di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11/26/2025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push dir="u"/>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0232A"/>
        </a:solidFill>
        <a:effectLst/>
      </p:bgPr>
    </p:bg>
    <p:spTree>
      <p:nvGrpSpPr>
        <p:cNvPr id="1" name=""/>
        <p:cNvGrpSpPr/>
        <p:nvPr/>
      </p:nvGrpSpPr>
      <p:grpSpPr>
        <a:xfrm>
          <a:off x="0" y="0"/>
          <a:ext cx="0" cy="0"/>
          <a:chOff x="0" y="0"/>
          <a:chExt cx="0" cy="0"/>
        </a:xfrm>
      </p:grpSpPr>
      <p:sp>
        <p:nvSpPr>
          <p:cNvPr id="2" name="AutoShape 2"/>
          <p:cNvSpPr/>
          <p:nvPr/>
        </p:nvSpPr>
        <p:spPr>
          <a:xfrm rot="5400000">
            <a:off x="-3294138" y="4385494"/>
            <a:ext cx="9650362" cy="0"/>
          </a:xfrm>
          <a:prstGeom prst="line">
            <a:avLst/>
          </a:prstGeom>
          <a:ln w="95250" cap="flat">
            <a:solidFill>
              <a:srgbClr val="2D2D35"/>
            </a:solidFill>
            <a:prstDash val="solid"/>
            <a:headEnd type="none" w="sm" len="sm"/>
            <a:tailEnd type="none" w="sm" len="sm"/>
          </a:ln>
        </p:spPr>
        <p:txBody>
          <a:bodyPr/>
          <a:lstStyle/>
          <a:p>
            <a:endParaRPr lang="es-PA"/>
          </a:p>
        </p:txBody>
      </p:sp>
      <p:grpSp>
        <p:nvGrpSpPr>
          <p:cNvPr id="3" name="Group 3"/>
          <p:cNvGrpSpPr/>
          <p:nvPr/>
        </p:nvGrpSpPr>
        <p:grpSpPr>
          <a:xfrm>
            <a:off x="14762002" y="-102870"/>
            <a:ext cx="4230823" cy="10389870"/>
            <a:chOff x="0" y="0"/>
            <a:chExt cx="1543416" cy="3790253"/>
          </a:xfrm>
        </p:grpSpPr>
        <p:sp>
          <p:nvSpPr>
            <p:cNvPr id="4" name="Freeform 4"/>
            <p:cNvSpPr/>
            <p:nvPr/>
          </p:nvSpPr>
          <p:spPr>
            <a:xfrm>
              <a:off x="0" y="0"/>
              <a:ext cx="1543416" cy="3790253"/>
            </a:xfrm>
            <a:custGeom>
              <a:avLst/>
              <a:gdLst/>
              <a:ahLst/>
              <a:cxnLst/>
              <a:rect l="l" t="t" r="r" b="b"/>
              <a:pathLst>
                <a:path w="1543416" h="3790253">
                  <a:moveTo>
                    <a:pt x="0" y="0"/>
                  </a:moveTo>
                  <a:lnTo>
                    <a:pt x="1543416" y="0"/>
                  </a:lnTo>
                  <a:lnTo>
                    <a:pt x="1543416" y="3790253"/>
                  </a:lnTo>
                  <a:lnTo>
                    <a:pt x="0" y="3790253"/>
                  </a:lnTo>
                  <a:close/>
                </a:path>
              </a:pathLst>
            </a:custGeom>
            <a:solidFill>
              <a:srgbClr val="2D2D35"/>
            </a:solidFill>
          </p:spPr>
          <p:txBody>
            <a:bodyPr/>
            <a:lstStyle/>
            <a:p>
              <a:endParaRPr lang="es-PA"/>
            </a:p>
          </p:txBody>
        </p:sp>
      </p:grpSp>
      <p:sp>
        <p:nvSpPr>
          <p:cNvPr id="5" name="AutoShape 5"/>
          <p:cNvSpPr/>
          <p:nvPr/>
        </p:nvSpPr>
        <p:spPr>
          <a:xfrm>
            <a:off x="14666595" y="9210675"/>
            <a:ext cx="1539000" cy="0"/>
          </a:xfrm>
          <a:prstGeom prst="line">
            <a:avLst/>
          </a:prstGeom>
          <a:ln w="47625" cap="flat">
            <a:solidFill>
              <a:srgbClr val="FFFFFF"/>
            </a:solidFill>
            <a:prstDash val="solid"/>
            <a:headEnd type="diamond" w="lg" len="lg"/>
            <a:tailEnd type="arrow" w="med" len="sm"/>
          </a:ln>
        </p:spPr>
        <p:txBody>
          <a:bodyPr/>
          <a:lstStyle/>
          <a:p>
            <a:endParaRPr lang="es-PA"/>
          </a:p>
        </p:txBody>
      </p:sp>
      <p:sp>
        <p:nvSpPr>
          <p:cNvPr id="6" name="Freeform 6"/>
          <p:cNvSpPr/>
          <p:nvPr/>
        </p:nvSpPr>
        <p:spPr>
          <a:xfrm>
            <a:off x="13255946" y="5287152"/>
            <a:ext cx="4440688" cy="3737579"/>
          </a:xfrm>
          <a:custGeom>
            <a:avLst/>
            <a:gdLst/>
            <a:ahLst/>
            <a:cxnLst/>
            <a:rect l="l" t="t" r="r" b="b"/>
            <a:pathLst>
              <a:path w="4440688" h="3737579">
                <a:moveTo>
                  <a:pt x="0" y="0"/>
                </a:moveTo>
                <a:lnTo>
                  <a:pt x="4440687" y="0"/>
                </a:lnTo>
                <a:lnTo>
                  <a:pt x="4440687" y="3737578"/>
                </a:lnTo>
                <a:lnTo>
                  <a:pt x="0" y="3737578"/>
                </a:lnTo>
                <a:lnTo>
                  <a:pt x="0" y="0"/>
                </a:lnTo>
                <a:close/>
              </a:path>
            </a:pathLst>
          </a:custGeom>
          <a:blipFill>
            <a:blip r:embed="rId2"/>
            <a:stretch>
              <a:fillRect/>
            </a:stretch>
          </a:blipFill>
        </p:spPr>
        <p:txBody>
          <a:bodyPr/>
          <a:lstStyle/>
          <a:p>
            <a:endParaRPr lang="es-PA"/>
          </a:p>
        </p:txBody>
      </p:sp>
      <p:sp>
        <p:nvSpPr>
          <p:cNvPr id="7" name="TextBox 7"/>
          <p:cNvSpPr txBox="1"/>
          <p:nvPr/>
        </p:nvSpPr>
        <p:spPr>
          <a:xfrm>
            <a:off x="2537186" y="2685525"/>
            <a:ext cx="10718760" cy="2601626"/>
          </a:xfrm>
          <a:prstGeom prst="rect">
            <a:avLst/>
          </a:prstGeom>
        </p:spPr>
        <p:txBody>
          <a:bodyPr lIns="0" tIns="0" rIns="0" bIns="0" rtlCol="0" anchor="t">
            <a:spAutoFit/>
          </a:bodyPr>
          <a:lstStyle/>
          <a:p>
            <a:pPr algn="l">
              <a:lnSpc>
                <a:spcPts val="10169"/>
              </a:lnSpc>
            </a:pPr>
            <a:r>
              <a:rPr lang="en-US" sz="8920">
                <a:solidFill>
                  <a:srgbClr val="FFFFFF"/>
                </a:solidFill>
                <a:latin typeface="Courier Prime"/>
                <a:ea typeface="Courier Prime"/>
                <a:cs typeface="Courier Prime"/>
                <a:sym typeface="Courier Prime"/>
              </a:rPr>
              <a:t>Proyecto2 - WEB API CALCULADORA</a:t>
            </a:r>
          </a:p>
        </p:txBody>
      </p:sp>
      <p:sp>
        <p:nvSpPr>
          <p:cNvPr id="8" name="TextBox 8"/>
          <p:cNvSpPr txBox="1"/>
          <p:nvPr/>
        </p:nvSpPr>
        <p:spPr>
          <a:xfrm>
            <a:off x="2415791" y="7091193"/>
            <a:ext cx="2471972" cy="1607392"/>
          </a:xfrm>
          <a:prstGeom prst="rect">
            <a:avLst/>
          </a:prstGeom>
        </p:spPr>
        <p:txBody>
          <a:bodyPr lIns="0" tIns="0" rIns="0" bIns="0" rtlCol="0" anchor="t">
            <a:spAutoFit/>
          </a:bodyPr>
          <a:lstStyle/>
          <a:p>
            <a:pPr algn="l">
              <a:lnSpc>
                <a:spcPts val="12477"/>
              </a:lnSpc>
            </a:pPr>
            <a:r>
              <a:rPr lang="en-US" sz="10944">
                <a:solidFill>
                  <a:srgbClr val="FFFFFF"/>
                </a:solidFill>
                <a:latin typeface="Courier Prime"/>
                <a:ea typeface="Courier Prime"/>
                <a:cs typeface="Courier Prime"/>
                <a:sym typeface="Courier Prime"/>
              </a:rPr>
              <a:t>}</a:t>
            </a:r>
          </a:p>
        </p:txBody>
      </p:sp>
      <p:sp>
        <p:nvSpPr>
          <p:cNvPr id="9" name="TextBox 9"/>
          <p:cNvSpPr txBox="1"/>
          <p:nvPr/>
        </p:nvSpPr>
        <p:spPr>
          <a:xfrm>
            <a:off x="2278912" y="5828968"/>
            <a:ext cx="10747189" cy="1029705"/>
          </a:xfrm>
          <a:prstGeom prst="rect">
            <a:avLst/>
          </a:prstGeom>
        </p:spPr>
        <p:txBody>
          <a:bodyPr lIns="0" tIns="0" rIns="0" bIns="0" rtlCol="0" anchor="t">
            <a:spAutoFit/>
          </a:bodyPr>
          <a:lstStyle/>
          <a:p>
            <a:pPr algn="l">
              <a:lnSpc>
                <a:spcPts val="4144"/>
              </a:lnSpc>
            </a:pPr>
            <a:r>
              <a:rPr lang="en-US" sz="2960">
                <a:solidFill>
                  <a:srgbClr val="FF914D"/>
                </a:solidFill>
                <a:latin typeface="Courier Prime"/>
                <a:ea typeface="Courier Prime"/>
                <a:cs typeface="Courier Prime"/>
                <a:sym typeface="Courier Prime"/>
              </a:rPr>
              <a:t>&lt;Por=Barría, Marleni (8-977-1987)"/&gt;</a:t>
            </a:r>
          </a:p>
          <a:p>
            <a:pPr algn="l">
              <a:lnSpc>
                <a:spcPts val="4144"/>
              </a:lnSpc>
            </a:pPr>
            <a:r>
              <a:rPr lang="en-US" sz="2960">
                <a:solidFill>
                  <a:srgbClr val="FF914D"/>
                </a:solidFill>
                <a:latin typeface="Courier Prime"/>
                <a:ea typeface="Courier Prime"/>
                <a:cs typeface="Courier Prime"/>
                <a:sym typeface="Courier Prime"/>
              </a:rPr>
              <a:t>&lt;Por=Rodríguez, Carolina (8-963-2307)"/&gt;</a:t>
            </a:r>
          </a:p>
        </p:txBody>
      </p:sp>
      <p:sp>
        <p:nvSpPr>
          <p:cNvPr id="10" name="TextBox 10"/>
          <p:cNvSpPr txBox="1"/>
          <p:nvPr/>
        </p:nvSpPr>
        <p:spPr>
          <a:xfrm>
            <a:off x="2194891" y="1687047"/>
            <a:ext cx="11259224" cy="474154"/>
          </a:xfrm>
          <a:prstGeom prst="rect">
            <a:avLst/>
          </a:prstGeom>
        </p:spPr>
        <p:txBody>
          <a:bodyPr lIns="0" tIns="0" rIns="0" bIns="0" rtlCol="0" anchor="t">
            <a:spAutoFit/>
          </a:bodyPr>
          <a:lstStyle/>
          <a:p>
            <a:pPr algn="l">
              <a:lnSpc>
                <a:spcPts val="3830"/>
              </a:lnSpc>
            </a:pPr>
            <a:r>
              <a:rPr lang="en-US" sz="2736">
                <a:solidFill>
                  <a:srgbClr val="8F8F8F"/>
                </a:solidFill>
                <a:latin typeface="Courier Prime"/>
                <a:ea typeface="Courier Prime"/>
                <a:cs typeface="Courier Prime"/>
                <a:sym typeface="Courier Prime"/>
              </a:rPr>
              <a:t>&lt;!--UTP--&gt;</a:t>
            </a:r>
          </a:p>
        </p:txBody>
      </p:sp>
    </p:spTree>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20232A"/>
        </a:solidFill>
        <a:effectLst/>
      </p:bgPr>
    </p:bg>
    <p:spTree>
      <p:nvGrpSpPr>
        <p:cNvPr id="1" name=""/>
        <p:cNvGrpSpPr/>
        <p:nvPr/>
      </p:nvGrpSpPr>
      <p:grpSpPr>
        <a:xfrm>
          <a:off x="0" y="0"/>
          <a:ext cx="0" cy="0"/>
          <a:chOff x="0" y="0"/>
          <a:chExt cx="0" cy="0"/>
        </a:xfrm>
      </p:grpSpPr>
      <p:grpSp>
        <p:nvGrpSpPr>
          <p:cNvPr id="2" name="Group 2"/>
          <p:cNvGrpSpPr/>
          <p:nvPr/>
        </p:nvGrpSpPr>
        <p:grpSpPr>
          <a:xfrm>
            <a:off x="-170578" y="-102870"/>
            <a:ext cx="9985477" cy="10389870"/>
            <a:chOff x="0" y="0"/>
            <a:chExt cx="3642729" cy="3790253"/>
          </a:xfrm>
        </p:grpSpPr>
        <p:sp>
          <p:nvSpPr>
            <p:cNvPr id="3" name="Freeform 3"/>
            <p:cNvSpPr/>
            <p:nvPr/>
          </p:nvSpPr>
          <p:spPr>
            <a:xfrm>
              <a:off x="0" y="0"/>
              <a:ext cx="3642729" cy="3790253"/>
            </a:xfrm>
            <a:custGeom>
              <a:avLst/>
              <a:gdLst/>
              <a:ahLst/>
              <a:cxnLst/>
              <a:rect l="l" t="t" r="r" b="b"/>
              <a:pathLst>
                <a:path w="3642729" h="3790253">
                  <a:moveTo>
                    <a:pt x="0" y="0"/>
                  </a:moveTo>
                  <a:lnTo>
                    <a:pt x="3642729" y="0"/>
                  </a:lnTo>
                  <a:lnTo>
                    <a:pt x="3642729" y="3790253"/>
                  </a:lnTo>
                  <a:lnTo>
                    <a:pt x="0" y="3790253"/>
                  </a:lnTo>
                  <a:close/>
                </a:path>
              </a:pathLst>
            </a:custGeom>
            <a:solidFill>
              <a:srgbClr val="2D2D35"/>
            </a:solidFill>
          </p:spPr>
          <p:txBody>
            <a:bodyPr/>
            <a:lstStyle/>
            <a:p>
              <a:endParaRPr lang="es-PA"/>
            </a:p>
          </p:txBody>
        </p:sp>
      </p:grpSp>
      <p:sp>
        <p:nvSpPr>
          <p:cNvPr id="4" name="AutoShape 4"/>
          <p:cNvSpPr/>
          <p:nvPr/>
        </p:nvSpPr>
        <p:spPr>
          <a:xfrm rot="5400000">
            <a:off x="6783951" y="3553290"/>
            <a:ext cx="7985953" cy="0"/>
          </a:xfrm>
          <a:prstGeom prst="line">
            <a:avLst/>
          </a:prstGeom>
          <a:ln w="95250" cap="flat">
            <a:solidFill>
              <a:srgbClr val="2D2D35"/>
            </a:solidFill>
            <a:prstDash val="solid"/>
            <a:headEnd type="none" w="sm" len="sm"/>
            <a:tailEnd type="none" w="sm" len="sm"/>
          </a:ln>
        </p:spPr>
        <p:txBody>
          <a:bodyPr/>
          <a:lstStyle/>
          <a:p>
            <a:endParaRPr lang="es-PA"/>
          </a:p>
        </p:txBody>
      </p:sp>
      <p:sp>
        <p:nvSpPr>
          <p:cNvPr id="5" name="Freeform 5"/>
          <p:cNvSpPr/>
          <p:nvPr/>
        </p:nvSpPr>
        <p:spPr>
          <a:xfrm>
            <a:off x="11565640" y="1812435"/>
            <a:ext cx="5815860" cy="6024197"/>
          </a:xfrm>
          <a:custGeom>
            <a:avLst/>
            <a:gdLst/>
            <a:ahLst/>
            <a:cxnLst/>
            <a:rect l="l" t="t" r="r" b="b"/>
            <a:pathLst>
              <a:path w="5815860" h="6024197">
                <a:moveTo>
                  <a:pt x="0" y="0"/>
                </a:moveTo>
                <a:lnTo>
                  <a:pt x="5815860" y="0"/>
                </a:lnTo>
                <a:lnTo>
                  <a:pt x="5815860" y="6024197"/>
                </a:lnTo>
                <a:lnTo>
                  <a:pt x="0" y="6024197"/>
                </a:lnTo>
                <a:lnTo>
                  <a:pt x="0" y="0"/>
                </a:lnTo>
                <a:close/>
              </a:path>
            </a:pathLst>
          </a:custGeom>
          <a:blipFill>
            <a:blip r:embed="rId2"/>
            <a:stretch>
              <a:fillRect/>
            </a:stretch>
          </a:blipFill>
        </p:spPr>
        <p:txBody>
          <a:bodyPr/>
          <a:lstStyle/>
          <a:p>
            <a:endParaRPr lang="es-PA"/>
          </a:p>
        </p:txBody>
      </p:sp>
      <p:sp>
        <p:nvSpPr>
          <p:cNvPr id="6" name="TextBox 6"/>
          <p:cNvSpPr txBox="1"/>
          <p:nvPr/>
        </p:nvSpPr>
        <p:spPr>
          <a:xfrm>
            <a:off x="1028700" y="1047750"/>
            <a:ext cx="7031406" cy="582930"/>
          </a:xfrm>
          <a:prstGeom prst="rect">
            <a:avLst/>
          </a:prstGeom>
        </p:spPr>
        <p:txBody>
          <a:bodyPr lIns="0" tIns="0" rIns="0" bIns="0" rtlCol="0" anchor="t">
            <a:spAutoFit/>
          </a:bodyPr>
          <a:lstStyle/>
          <a:p>
            <a:pPr algn="l">
              <a:lnSpc>
                <a:spcPts val="4559"/>
              </a:lnSpc>
            </a:pPr>
            <a:r>
              <a:rPr lang="en-US" sz="3999">
                <a:solidFill>
                  <a:srgbClr val="FFFFFF"/>
                </a:solidFill>
                <a:latin typeface="Courier Prime"/>
                <a:ea typeface="Courier Prime"/>
                <a:cs typeface="Courier Prime"/>
                <a:sym typeface="Courier Prime"/>
              </a:rPr>
              <a:t>Introducción {</a:t>
            </a:r>
          </a:p>
        </p:txBody>
      </p:sp>
      <p:sp>
        <p:nvSpPr>
          <p:cNvPr id="7" name="TextBox 7"/>
          <p:cNvSpPr txBox="1"/>
          <p:nvPr/>
        </p:nvSpPr>
        <p:spPr>
          <a:xfrm>
            <a:off x="16557135" y="8675370"/>
            <a:ext cx="702165" cy="582930"/>
          </a:xfrm>
          <a:prstGeom prst="rect">
            <a:avLst/>
          </a:prstGeom>
        </p:spPr>
        <p:txBody>
          <a:bodyPr lIns="0" tIns="0" rIns="0" bIns="0" rtlCol="0" anchor="t">
            <a:spAutoFit/>
          </a:bodyPr>
          <a:lstStyle/>
          <a:p>
            <a:pPr algn="r">
              <a:lnSpc>
                <a:spcPts val="4559"/>
              </a:lnSpc>
            </a:pPr>
            <a:r>
              <a:rPr lang="en-US" sz="3999">
                <a:solidFill>
                  <a:srgbClr val="FFFFFF"/>
                </a:solidFill>
                <a:latin typeface="Courier Prime"/>
                <a:ea typeface="Courier Prime"/>
                <a:cs typeface="Courier Prime"/>
                <a:sym typeface="Courier Prime"/>
              </a:rPr>
              <a:t>}</a:t>
            </a:r>
          </a:p>
        </p:txBody>
      </p:sp>
      <p:sp>
        <p:nvSpPr>
          <p:cNvPr id="8" name="TextBox 8"/>
          <p:cNvSpPr txBox="1"/>
          <p:nvPr/>
        </p:nvSpPr>
        <p:spPr>
          <a:xfrm>
            <a:off x="833919" y="2218436"/>
            <a:ext cx="7964076" cy="6258814"/>
          </a:xfrm>
          <a:prstGeom prst="rect">
            <a:avLst/>
          </a:prstGeom>
        </p:spPr>
        <p:txBody>
          <a:bodyPr lIns="0" tIns="0" rIns="0" bIns="0" rtlCol="0" anchor="t">
            <a:spAutoFit/>
          </a:bodyPr>
          <a:lstStyle/>
          <a:p>
            <a:pPr algn="just">
              <a:lnSpc>
                <a:spcPts val="3128"/>
              </a:lnSpc>
            </a:pPr>
            <a:r>
              <a:rPr lang="en-US" sz="2300">
                <a:solidFill>
                  <a:srgbClr val="FFFFFF"/>
                </a:solidFill>
                <a:latin typeface="Courier Prime"/>
                <a:ea typeface="Courier Prime"/>
                <a:cs typeface="Courier Prime"/>
                <a:sym typeface="Courier Prime"/>
              </a:rPr>
              <a:t>El Proyecto 2 consiste en desarrollar una aplicación basada en una Web API en ASP.NET, capaz de exponer datos almacenados en una base de datos SQL Server relacionados con operaciones matemáticas realizadas por el usuario. La API debe proporcionar endpoints que permitan obtener todas las operaciones registradas, así como filtros específicos para sumas, restas, multiplicaciones y divisiones.</a:t>
            </a:r>
          </a:p>
          <a:p>
            <a:pPr algn="just">
              <a:lnSpc>
                <a:spcPts val="3128"/>
              </a:lnSpc>
            </a:pPr>
            <a:r>
              <a:rPr lang="en-US" sz="2300">
                <a:solidFill>
                  <a:srgbClr val="FFFFFF"/>
                </a:solidFill>
                <a:latin typeface="Courier Prime"/>
                <a:ea typeface="Courier Prime"/>
                <a:cs typeface="Courier Prime"/>
                <a:sym typeface="Courier Prime"/>
              </a:rPr>
              <a:t> Además, se implementa una aplicación cliente en WebForms, encargada de consumir la API mediante solicitudes HTTP, mostrar los resultados de manera dinámica y permitir la interacción del usuario a través de botones que consultan los distintos endpoints. </a:t>
            </a:r>
          </a:p>
        </p:txBody>
      </p:sp>
    </p:spTree>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0232A"/>
        </a:solidFill>
        <a:effectLst/>
      </p:bgPr>
    </p:bg>
    <p:spTree>
      <p:nvGrpSpPr>
        <p:cNvPr id="1" name=""/>
        <p:cNvGrpSpPr/>
        <p:nvPr/>
      </p:nvGrpSpPr>
      <p:grpSpPr>
        <a:xfrm>
          <a:off x="0" y="0"/>
          <a:ext cx="0" cy="0"/>
          <a:chOff x="0" y="0"/>
          <a:chExt cx="0" cy="0"/>
        </a:xfrm>
      </p:grpSpPr>
      <p:grpSp>
        <p:nvGrpSpPr>
          <p:cNvPr id="2" name="Group 2"/>
          <p:cNvGrpSpPr/>
          <p:nvPr/>
        </p:nvGrpSpPr>
        <p:grpSpPr>
          <a:xfrm>
            <a:off x="10574878" y="-102870"/>
            <a:ext cx="7883700" cy="10389870"/>
            <a:chOff x="0" y="0"/>
            <a:chExt cx="2875995" cy="3790253"/>
          </a:xfrm>
        </p:grpSpPr>
        <p:sp>
          <p:nvSpPr>
            <p:cNvPr id="3" name="Freeform 3"/>
            <p:cNvSpPr/>
            <p:nvPr/>
          </p:nvSpPr>
          <p:spPr>
            <a:xfrm>
              <a:off x="0" y="0"/>
              <a:ext cx="2875995" cy="3790253"/>
            </a:xfrm>
            <a:custGeom>
              <a:avLst/>
              <a:gdLst/>
              <a:ahLst/>
              <a:cxnLst/>
              <a:rect l="l" t="t" r="r" b="b"/>
              <a:pathLst>
                <a:path w="2875995" h="3790253">
                  <a:moveTo>
                    <a:pt x="0" y="0"/>
                  </a:moveTo>
                  <a:lnTo>
                    <a:pt x="2875995" y="0"/>
                  </a:lnTo>
                  <a:lnTo>
                    <a:pt x="2875995" y="3790253"/>
                  </a:lnTo>
                  <a:lnTo>
                    <a:pt x="0" y="3790253"/>
                  </a:lnTo>
                  <a:close/>
                </a:path>
              </a:pathLst>
            </a:custGeom>
            <a:solidFill>
              <a:srgbClr val="2D2D35"/>
            </a:solidFill>
          </p:spPr>
          <p:txBody>
            <a:bodyPr/>
            <a:lstStyle/>
            <a:p>
              <a:endParaRPr lang="es-PA"/>
            </a:p>
          </p:txBody>
        </p:sp>
      </p:grpSp>
      <p:sp>
        <p:nvSpPr>
          <p:cNvPr id="4" name="Freeform 4"/>
          <p:cNvSpPr/>
          <p:nvPr/>
        </p:nvSpPr>
        <p:spPr>
          <a:xfrm>
            <a:off x="11405515" y="1180737"/>
            <a:ext cx="6133346" cy="7027254"/>
          </a:xfrm>
          <a:custGeom>
            <a:avLst/>
            <a:gdLst/>
            <a:ahLst/>
            <a:cxnLst/>
            <a:rect l="l" t="t" r="r" b="b"/>
            <a:pathLst>
              <a:path w="6133346" h="7027254">
                <a:moveTo>
                  <a:pt x="0" y="0"/>
                </a:moveTo>
                <a:lnTo>
                  <a:pt x="6133346" y="0"/>
                </a:lnTo>
                <a:lnTo>
                  <a:pt x="6133346" y="7027254"/>
                </a:lnTo>
                <a:lnTo>
                  <a:pt x="0" y="7027254"/>
                </a:lnTo>
                <a:lnTo>
                  <a:pt x="0" y="0"/>
                </a:lnTo>
                <a:close/>
              </a:path>
            </a:pathLst>
          </a:custGeom>
          <a:blipFill>
            <a:blip r:embed="rId2"/>
            <a:stretch>
              <a:fillRect l="-46869" r="-24992"/>
            </a:stretch>
          </a:blipFill>
        </p:spPr>
        <p:txBody>
          <a:bodyPr/>
          <a:lstStyle/>
          <a:p>
            <a:endParaRPr lang="es-PA"/>
          </a:p>
        </p:txBody>
      </p:sp>
      <p:sp>
        <p:nvSpPr>
          <p:cNvPr id="5" name="TextBox 5"/>
          <p:cNvSpPr txBox="1"/>
          <p:nvPr/>
        </p:nvSpPr>
        <p:spPr>
          <a:xfrm>
            <a:off x="1028700" y="746760"/>
            <a:ext cx="7031406" cy="582930"/>
          </a:xfrm>
          <a:prstGeom prst="rect">
            <a:avLst/>
          </a:prstGeom>
        </p:spPr>
        <p:txBody>
          <a:bodyPr lIns="0" tIns="0" rIns="0" bIns="0" rtlCol="0" anchor="t">
            <a:spAutoFit/>
          </a:bodyPr>
          <a:lstStyle/>
          <a:p>
            <a:pPr algn="l">
              <a:lnSpc>
                <a:spcPts val="4559"/>
              </a:lnSpc>
            </a:pPr>
            <a:r>
              <a:rPr lang="en-US" sz="3999">
                <a:solidFill>
                  <a:srgbClr val="FFFFFF"/>
                </a:solidFill>
                <a:latin typeface="Courier Prime"/>
                <a:ea typeface="Courier Prime"/>
                <a:cs typeface="Courier Prime"/>
                <a:sym typeface="Courier Prime"/>
              </a:rPr>
              <a:t>Aspectos Generales {</a:t>
            </a:r>
          </a:p>
        </p:txBody>
      </p:sp>
      <p:sp>
        <p:nvSpPr>
          <p:cNvPr id="6" name="TextBox 6"/>
          <p:cNvSpPr txBox="1"/>
          <p:nvPr/>
        </p:nvSpPr>
        <p:spPr>
          <a:xfrm>
            <a:off x="799872" y="1405902"/>
            <a:ext cx="9263844" cy="8599932"/>
          </a:xfrm>
          <a:prstGeom prst="rect">
            <a:avLst/>
          </a:prstGeom>
        </p:spPr>
        <p:txBody>
          <a:bodyPr lIns="0" tIns="0" rIns="0" bIns="0" rtlCol="0" anchor="t">
            <a:spAutoFit/>
          </a:bodyPr>
          <a:lstStyle/>
          <a:p>
            <a:pPr marL="518160" lvl="1" indent="-259080" algn="l">
              <a:lnSpc>
                <a:spcPts val="3264"/>
              </a:lnSpc>
              <a:buFont typeface="Arial"/>
              <a:buChar char="•"/>
            </a:pPr>
            <a:r>
              <a:rPr lang="en-US" sz="2400">
                <a:solidFill>
                  <a:srgbClr val="FF914D"/>
                </a:solidFill>
                <a:latin typeface="Courier Prime"/>
                <a:ea typeface="Courier Prime"/>
                <a:cs typeface="Courier Prime"/>
                <a:sym typeface="Courier Prime"/>
              </a:rPr>
              <a:t>Consume</a:t>
            </a:r>
            <a:r>
              <a:rPr lang="en-US" sz="2400">
                <a:solidFill>
                  <a:srgbClr val="FFFFFF"/>
                </a:solidFill>
                <a:latin typeface="Courier Prime"/>
                <a:ea typeface="Courier Prime"/>
                <a:cs typeface="Courier Prime"/>
                <a:sym typeface="Courier Prime"/>
              </a:rPr>
              <a:t> un Web API usando HttpClient y una URL base definida en API_BASE_URL.</a:t>
            </a:r>
          </a:p>
          <a:p>
            <a:pPr marL="518160" lvl="1" indent="-259080" algn="l">
              <a:lnSpc>
                <a:spcPts val="3264"/>
              </a:lnSpc>
              <a:buFont typeface="Arial"/>
              <a:buChar char="•"/>
            </a:pPr>
            <a:r>
              <a:rPr lang="en-US" sz="2400">
                <a:solidFill>
                  <a:srgbClr val="FF914D"/>
                </a:solidFill>
                <a:latin typeface="Courier Prime"/>
                <a:ea typeface="Courier Prime"/>
                <a:cs typeface="Courier Prime"/>
                <a:sym typeface="Courier Prime"/>
              </a:rPr>
              <a:t>Cada botón</a:t>
            </a:r>
            <a:r>
              <a:rPr lang="en-US" sz="2400">
                <a:solidFill>
                  <a:srgbClr val="FFFFFF"/>
                </a:solidFill>
                <a:latin typeface="Courier Prime"/>
                <a:ea typeface="Courier Prime"/>
                <a:cs typeface="Courier Prime"/>
                <a:sym typeface="Courier Prime"/>
              </a:rPr>
              <a:t> (Sumas, Restas, Multiplicaciones, Divisiones, Todos) llama al método CargarDatos() enviando el endpoint correspondiente.</a:t>
            </a:r>
          </a:p>
          <a:p>
            <a:pPr marL="518160" lvl="1" indent="-259080" algn="l">
              <a:lnSpc>
                <a:spcPts val="3264"/>
              </a:lnSpc>
              <a:buFont typeface="Arial"/>
              <a:buChar char="•"/>
            </a:pPr>
            <a:r>
              <a:rPr lang="en-US" sz="2400">
                <a:solidFill>
                  <a:srgbClr val="FF914D"/>
                </a:solidFill>
                <a:latin typeface="Courier Prime"/>
                <a:ea typeface="Courier Prime"/>
                <a:cs typeface="Courier Prime"/>
                <a:sym typeface="Courier Prime"/>
              </a:rPr>
              <a:t>Las solicitudes</a:t>
            </a:r>
            <a:r>
              <a:rPr lang="en-US" sz="2400">
                <a:solidFill>
                  <a:srgbClr val="FFFFFF"/>
                </a:solidFill>
                <a:latin typeface="Courier Prime"/>
                <a:ea typeface="Courier Prime"/>
                <a:cs typeface="Courier Prime"/>
                <a:sym typeface="Courier Prime"/>
              </a:rPr>
              <a:t> son asincrónicas (async/await), evitando que la página se bloquee mientras espera la respuesta del API.</a:t>
            </a:r>
          </a:p>
          <a:p>
            <a:pPr marL="518160" lvl="1" indent="-259080" algn="l">
              <a:lnSpc>
                <a:spcPts val="3264"/>
              </a:lnSpc>
              <a:buFont typeface="Arial"/>
              <a:buChar char="•"/>
            </a:pPr>
            <a:r>
              <a:rPr lang="en-US" sz="2400">
                <a:solidFill>
                  <a:srgbClr val="FF914D"/>
                </a:solidFill>
                <a:latin typeface="Courier Prime"/>
                <a:ea typeface="Courier Prime"/>
                <a:cs typeface="Courier Prime"/>
                <a:sym typeface="Courier Prime"/>
              </a:rPr>
              <a:t>El método CargarDatos:</a:t>
            </a:r>
          </a:p>
          <a:p>
            <a:pPr marL="518160" lvl="1" indent="-259080" algn="l">
              <a:lnSpc>
                <a:spcPts val="3264"/>
              </a:lnSpc>
              <a:buFont typeface="Arial"/>
              <a:buChar char="•"/>
            </a:pPr>
            <a:r>
              <a:rPr lang="en-US" sz="2400">
                <a:solidFill>
                  <a:srgbClr val="FFFFFF"/>
                </a:solidFill>
                <a:latin typeface="Courier Prime"/>
                <a:ea typeface="Courier Prime"/>
                <a:cs typeface="Courier Prime"/>
                <a:sym typeface="Courier Prime"/>
              </a:rPr>
              <a:t>Llama al API por medio de GET.</a:t>
            </a:r>
          </a:p>
          <a:p>
            <a:pPr marL="518160" lvl="1" indent="-259080" algn="l">
              <a:lnSpc>
                <a:spcPts val="3264"/>
              </a:lnSpc>
              <a:buFont typeface="Arial"/>
              <a:buChar char="•"/>
            </a:pPr>
            <a:r>
              <a:rPr lang="en-US" sz="2400">
                <a:solidFill>
                  <a:srgbClr val="FFFFFF"/>
                </a:solidFill>
                <a:latin typeface="Courier Prime"/>
                <a:ea typeface="Courier Prime"/>
                <a:cs typeface="Courier Prime"/>
                <a:sym typeface="Courier Prime"/>
              </a:rPr>
              <a:t>Recibe la respuesta en formato JSON.</a:t>
            </a:r>
          </a:p>
          <a:p>
            <a:pPr marL="518160" lvl="1" indent="-259080" algn="l">
              <a:lnSpc>
                <a:spcPts val="3264"/>
              </a:lnSpc>
              <a:buFont typeface="Arial"/>
              <a:buChar char="•"/>
            </a:pPr>
            <a:r>
              <a:rPr lang="en-US" sz="2400">
                <a:solidFill>
                  <a:srgbClr val="FFFFFF"/>
                </a:solidFill>
                <a:latin typeface="Courier Prime"/>
                <a:ea typeface="Courier Prime"/>
                <a:cs typeface="Courier Prime"/>
                <a:sym typeface="Courier Prime"/>
              </a:rPr>
              <a:t>Deserializa los datos a una lista de objetos Calculo.</a:t>
            </a:r>
          </a:p>
          <a:p>
            <a:pPr marL="518160" lvl="1" indent="-259080" algn="l">
              <a:lnSpc>
                <a:spcPts val="3264"/>
              </a:lnSpc>
              <a:buFont typeface="Arial"/>
              <a:buChar char="•"/>
            </a:pPr>
            <a:r>
              <a:rPr lang="en-US" sz="2400">
                <a:solidFill>
                  <a:srgbClr val="FFFFFF"/>
                </a:solidFill>
                <a:latin typeface="Courier Prime"/>
                <a:ea typeface="Courier Prime"/>
                <a:cs typeface="Courier Prime"/>
                <a:sym typeface="Courier Prime"/>
              </a:rPr>
              <a:t>Muestra los resultados en el ListBox.</a:t>
            </a:r>
          </a:p>
          <a:p>
            <a:pPr marL="518160" lvl="1" indent="-259080" algn="l">
              <a:lnSpc>
                <a:spcPts val="3264"/>
              </a:lnSpc>
              <a:buFont typeface="Arial"/>
              <a:buChar char="•"/>
            </a:pPr>
            <a:r>
              <a:rPr lang="en-US" sz="2400">
                <a:solidFill>
                  <a:srgbClr val="FF914D"/>
                </a:solidFill>
                <a:latin typeface="Courier Prime"/>
                <a:ea typeface="Courier Prime"/>
                <a:cs typeface="Courier Prime"/>
                <a:sym typeface="Courier Prime"/>
              </a:rPr>
              <a:t>Incluye</a:t>
            </a:r>
            <a:r>
              <a:rPr lang="en-US" sz="2400">
                <a:solidFill>
                  <a:srgbClr val="FFFFFF"/>
                </a:solidFill>
                <a:latin typeface="Courier Prime"/>
                <a:ea typeface="Courier Prime"/>
                <a:cs typeface="Courier Prime"/>
                <a:sym typeface="Courier Prime"/>
              </a:rPr>
              <a:t> manejo de errores cuando el API no está disponible o surge un problema en la solicitud.</a:t>
            </a:r>
          </a:p>
          <a:p>
            <a:pPr marL="518160" lvl="1" indent="-259080" algn="l">
              <a:lnSpc>
                <a:spcPts val="3264"/>
              </a:lnSpc>
              <a:buFont typeface="Arial"/>
              <a:buChar char="•"/>
            </a:pPr>
            <a:r>
              <a:rPr lang="en-US" sz="2400">
                <a:solidFill>
                  <a:srgbClr val="FF914D"/>
                </a:solidFill>
                <a:latin typeface="Courier Prime"/>
                <a:ea typeface="Courier Prime"/>
                <a:cs typeface="Courier Prime"/>
                <a:sym typeface="Courier Prime"/>
              </a:rPr>
              <a:t>La clase Calculo</a:t>
            </a:r>
            <a:r>
              <a:rPr lang="en-US" sz="2400">
                <a:solidFill>
                  <a:srgbClr val="FFFFFF"/>
                </a:solidFill>
                <a:latin typeface="Courier Prime"/>
                <a:ea typeface="Courier Prime"/>
                <a:cs typeface="Courier Prime"/>
                <a:sym typeface="Courier Prime"/>
              </a:rPr>
              <a:t> representa el modelo que coincide con los datos enviados desde el Web API.</a:t>
            </a:r>
          </a:p>
          <a:p>
            <a:pPr algn="l">
              <a:lnSpc>
                <a:spcPts val="3264"/>
              </a:lnSpc>
            </a:pPr>
            <a:endParaRPr lang="en-US" sz="2400">
              <a:solidFill>
                <a:srgbClr val="FFFFFF"/>
              </a:solidFill>
              <a:latin typeface="Courier Prime"/>
              <a:ea typeface="Courier Prime"/>
              <a:cs typeface="Courier Prime"/>
              <a:sym typeface="Courier Prime"/>
            </a:endParaRPr>
          </a:p>
        </p:txBody>
      </p:sp>
      <p:sp>
        <p:nvSpPr>
          <p:cNvPr id="7" name="TextBox 7"/>
          <p:cNvSpPr txBox="1"/>
          <p:nvPr/>
        </p:nvSpPr>
        <p:spPr>
          <a:xfrm>
            <a:off x="16557135" y="8675370"/>
            <a:ext cx="702165" cy="582930"/>
          </a:xfrm>
          <a:prstGeom prst="rect">
            <a:avLst/>
          </a:prstGeom>
        </p:spPr>
        <p:txBody>
          <a:bodyPr lIns="0" tIns="0" rIns="0" bIns="0" rtlCol="0" anchor="t">
            <a:spAutoFit/>
          </a:bodyPr>
          <a:lstStyle/>
          <a:p>
            <a:pPr algn="r">
              <a:lnSpc>
                <a:spcPts val="4559"/>
              </a:lnSpc>
            </a:pPr>
            <a:r>
              <a:rPr lang="en-US" sz="3999">
                <a:solidFill>
                  <a:srgbClr val="FFFFFF"/>
                </a:solidFill>
                <a:latin typeface="Courier Prime"/>
                <a:ea typeface="Courier Prime"/>
                <a:cs typeface="Courier Prime"/>
                <a:sym typeface="Courier Prime"/>
              </a:rPr>
              <a:t>}</a:t>
            </a:r>
          </a:p>
        </p:txBody>
      </p:sp>
    </p:spTree>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101"/>
        </a:solidFill>
        <a:effectLst/>
      </p:bgPr>
    </p:bg>
    <p:spTree>
      <p:nvGrpSpPr>
        <p:cNvPr id="1" name=""/>
        <p:cNvGrpSpPr/>
        <p:nvPr/>
      </p:nvGrpSpPr>
      <p:grpSpPr>
        <a:xfrm>
          <a:off x="0" y="0"/>
          <a:ext cx="0" cy="0"/>
          <a:chOff x="0" y="0"/>
          <a:chExt cx="0" cy="0"/>
        </a:xfrm>
      </p:grpSpPr>
      <p:sp>
        <p:nvSpPr>
          <p:cNvPr id="2" name="Freeform 2"/>
          <p:cNvSpPr/>
          <p:nvPr/>
        </p:nvSpPr>
        <p:spPr>
          <a:xfrm>
            <a:off x="4112038" y="1983558"/>
            <a:ext cx="9800694" cy="7274742"/>
          </a:xfrm>
          <a:custGeom>
            <a:avLst/>
            <a:gdLst/>
            <a:ahLst/>
            <a:cxnLst/>
            <a:rect l="l" t="t" r="r" b="b"/>
            <a:pathLst>
              <a:path w="9800694" h="7274742">
                <a:moveTo>
                  <a:pt x="0" y="0"/>
                </a:moveTo>
                <a:lnTo>
                  <a:pt x="9800694" y="0"/>
                </a:lnTo>
                <a:lnTo>
                  <a:pt x="9800694" y="7274742"/>
                </a:lnTo>
                <a:lnTo>
                  <a:pt x="0" y="7274742"/>
                </a:lnTo>
                <a:lnTo>
                  <a:pt x="0" y="0"/>
                </a:lnTo>
                <a:close/>
              </a:path>
            </a:pathLst>
          </a:custGeom>
          <a:blipFill>
            <a:blip r:embed="rId2"/>
            <a:stretch>
              <a:fillRect/>
            </a:stretch>
          </a:blipFill>
        </p:spPr>
        <p:txBody>
          <a:bodyPr/>
          <a:lstStyle/>
          <a:p>
            <a:endParaRPr lang="es-PA"/>
          </a:p>
        </p:txBody>
      </p:sp>
      <p:sp>
        <p:nvSpPr>
          <p:cNvPr id="3" name="TextBox 3"/>
          <p:cNvSpPr txBox="1"/>
          <p:nvPr/>
        </p:nvSpPr>
        <p:spPr>
          <a:xfrm>
            <a:off x="1028700" y="1047750"/>
            <a:ext cx="9539292" cy="582930"/>
          </a:xfrm>
          <a:prstGeom prst="rect">
            <a:avLst/>
          </a:prstGeom>
        </p:spPr>
        <p:txBody>
          <a:bodyPr lIns="0" tIns="0" rIns="0" bIns="0" rtlCol="0" anchor="t">
            <a:spAutoFit/>
          </a:bodyPr>
          <a:lstStyle/>
          <a:p>
            <a:pPr algn="l">
              <a:lnSpc>
                <a:spcPts val="4559"/>
              </a:lnSpc>
            </a:pPr>
            <a:r>
              <a:rPr lang="en-US" sz="3999">
                <a:solidFill>
                  <a:srgbClr val="FFFFFF"/>
                </a:solidFill>
                <a:latin typeface="Courier Prime"/>
                <a:ea typeface="Courier Prime"/>
                <a:cs typeface="Courier Prime"/>
                <a:sym typeface="Courier Prime"/>
              </a:rPr>
              <a:t>Diagrama de Arquitectura {</a:t>
            </a:r>
          </a:p>
        </p:txBody>
      </p:sp>
      <p:sp>
        <p:nvSpPr>
          <p:cNvPr id="4" name="TextBox 4"/>
          <p:cNvSpPr txBox="1"/>
          <p:nvPr/>
        </p:nvSpPr>
        <p:spPr>
          <a:xfrm>
            <a:off x="16557135" y="8675370"/>
            <a:ext cx="702165" cy="582930"/>
          </a:xfrm>
          <a:prstGeom prst="rect">
            <a:avLst/>
          </a:prstGeom>
        </p:spPr>
        <p:txBody>
          <a:bodyPr lIns="0" tIns="0" rIns="0" bIns="0" rtlCol="0" anchor="t">
            <a:spAutoFit/>
          </a:bodyPr>
          <a:lstStyle/>
          <a:p>
            <a:pPr algn="r">
              <a:lnSpc>
                <a:spcPts val="4559"/>
              </a:lnSpc>
            </a:pPr>
            <a:r>
              <a:rPr lang="en-US" sz="3999">
                <a:solidFill>
                  <a:srgbClr val="FFFFFF"/>
                </a:solidFill>
                <a:latin typeface="Courier Prime"/>
                <a:ea typeface="Courier Prime"/>
                <a:cs typeface="Courier Prime"/>
                <a:sym typeface="Courier Prime"/>
              </a:rPr>
              <a:t>}</a:t>
            </a:r>
          </a:p>
        </p:txBody>
      </p:sp>
    </p:spTree>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20232A"/>
        </a:solidFill>
        <a:effectLst/>
      </p:bgPr>
    </p:bg>
    <p:spTree>
      <p:nvGrpSpPr>
        <p:cNvPr id="1" name=""/>
        <p:cNvGrpSpPr/>
        <p:nvPr/>
      </p:nvGrpSpPr>
      <p:grpSpPr>
        <a:xfrm>
          <a:off x="0" y="0"/>
          <a:ext cx="0" cy="0"/>
          <a:chOff x="0" y="0"/>
          <a:chExt cx="0" cy="0"/>
        </a:xfrm>
      </p:grpSpPr>
      <p:sp>
        <p:nvSpPr>
          <p:cNvPr id="2" name="Freeform 2"/>
          <p:cNvSpPr/>
          <p:nvPr/>
        </p:nvSpPr>
        <p:spPr>
          <a:xfrm>
            <a:off x="2456439" y="2069172"/>
            <a:ext cx="13375122" cy="7189128"/>
          </a:xfrm>
          <a:custGeom>
            <a:avLst/>
            <a:gdLst/>
            <a:ahLst/>
            <a:cxnLst/>
            <a:rect l="l" t="t" r="r" b="b"/>
            <a:pathLst>
              <a:path w="13375122" h="7189128">
                <a:moveTo>
                  <a:pt x="0" y="0"/>
                </a:moveTo>
                <a:lnTo>
                  <a:pt x="13375122" y="0"/>
                </a:lnTo>
                <a:lnTo>
                  <a:pt x="13375122" y="7189128"/>
                </a:lnTo>
                <a:lnTo>
                  <a:pt x="0" y="7189128"/>
                </a:lnTo>
                <a:lnTo>
                  <a:pt x="0" y="0"/>
                </a:lnTo>
                <a:close/>
              </a:path>
            </a:pathLst>
          </a:custGeom>
          <a:blipFill>
            <a:blip r:embed="rId2"/>
            <a:stretch>
              <a:fillRect/>
            </a:stretch>
          </a:blipFill>
        </p:spPr>
        <p:txBody>
          <a:bodyPr/>
          <a:lstStyle/>
          <a:p>
            <a:endParaRPr lang="es-PA"/>
          </a:p>
        </p:txBody>
      </p:sp>
      <p:sp>
        <p:nvSpPr>
          <p:cNvPr id="3" name="TextBox 3"/>
          <p:cNvSpPr txBox="1"/>
          <p:nvPr/>
        </p:nvSpPr>
        <p:spPr>
          <a:xfrm>
            <a:off x="1028700" y="1047750"/>
            <a:ext cx="10721353" cy="582930"/>
          </a:xfrm>
          <a:prstGeom prst="rect">
            <a:avLst/>
          </a:prstGeom>
        </p:spPr>
        <p:txBody>
          <a:bodyPr lIns="0" tIns="0" rIns="0" bIns="0" rtlCol="0" anchor="t">
            <a:spAutoFit/>
          </a:bodyPr>
          <a:lstStyle/>
          <a:p>
            <a:pPr algn="l">
              <a:lnSpc>
                <a:spcPts val="4559"/>
              </a:lnSpc>
            </a:pPr>
            <a:r>
              <a:rPr lang="en-US" sz="3999">
                <a:solidFill>
                  <a:srgbClr val="FFFFFF"/>
                </a:solidFill>
                <a:latin typeface="Courier Prime"/>
                <a:ea typeface="Courier Prime"/>
                <a:cs typeface="Courier Prime"/>
                <a:sym typeface="Courier Prime"/>
              </a:rPr>
              <a:t> Programa Ejecutando en la Web {</a:t>
            </a:r>
          </a:p>
        </p:txBody>
      </p:sp>
    </p:spTree>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20232A"/>
        </a:solidFill>
        <a:effectLst/>
      </p:bgPr>
    </p:bg>
    <p:spTree>
      <p:nvGrpSpPr>
        <p:cNvPr id="1" name=""/>
        <p:cNvGrpSpPr/>
        <p:nvPr/>
      </p:nvGrpSpPr>
      <p:grpSpPr>
        <a:xfrm>
          <a:off x="0" y="0"/>
          <a:ext cx="0" cy="0"/>
          <a:chOff x="0" y="0"/>
          <a:chExt cx="0" cy="0"/>
        </a:xfrm>
      </p:grpSpPr>
      <p:sp>
        <p:nvSpPr>
          <p:cNvPr id="2" name="Freeform 2"/>
          <p:cNvSpPr/>
          <p:nvPr/>
        </p:nvSpPr>
        <p:spPr>
          <a:xfrm>
            <a:off x="2086874" y="2452620"/>
            <a:ext cx="14114253" cy="6203700"/>
          </a:xfrm>
          <a:custGeom>
            <a:avLst/>
            <a:gdLst/>
            <a:ahLst/>
            <a:cxnLst/>
            <a:rect l="l" t="t" r="r" b="b"/>
            <a:pathLst>
              <a:path w="14114253" h="6203700">
                <a:moveTo>
                  <a:pt x="0" y="0"/>
                </a:moveTo>
                <a:lnTo>
                  <a:pt x="14114252" y="0"/>
                </a:lnTo>
                <a:lnTo>
                  <a:pt x="14114252" y="6203700"/>
                </a:lnTo>
                <a:lnTo>
                  <a:pt x="0" y="6203700"/>
                </a:lnTo>
                <a:lnTo>
                  <a:pt x="0" y="0"/>
                </a:lnTo>
                <a:close/>
              </a:path>
            </a:pathLst>
          </a:custGeom>
          <a:blipFill>
            <a:blip r:embed="rId2"/>
            <a:stretch>
              <a:fillRect t="-14325"/>
            </a:stretch>
          </a:blipFill>
        </p:spPr>
        <p:txBody>
          <a:bodyPr/>
          <a:lstStyle/>
          <a:p>
            <a:endParaRPr lang="es-PA"/>
          </a:p>
        </p:txBody>
      </p:sp>
      <p:sp>
        <p:nvSpPr>
          <p:cNvPr id="3" name="TextBox 3"/>
          <p:cNvSpPr txBox="1"/>
          <p:nvPr/>
        </p:nvSpPr>
        <p:spPr>
          <a:xfrm>
            <a:off x="1028700" y="1047750"/>
            <a:ext cx="9443449" cy="582930"/>
          </a:xfrm>
          <a:prstGeom prst="rect">
            <a:avLst/>
          </a:prstGeom>
        </p:spPr>
        <p:txBody>
          <a:bodyPr lIns="0" tIns="0" rIns="0" bIns="0" rtlCol="0" anchor="t">
            <a:spAutoFit/>
          </a:bodyPr>
          <a:lstStyle/>
          <a:p>
            <a:pPr algn="l">
              <a:lnSpc>
                <a:spcPts val="4559"/>
              </a:lnSpc>
            </a:pPr>
            <a:r>
              <a:rPr lang="en-US" sz="3999">
                <a:solidFill>
                  <a:srgbClr val="FFFFFF"/>
                </a:solidFill>
                <a:latin typeface="Courier Prime"/>
                <a:ea typeface="Courier Prime"/>
                <a:cs typeface="Courier Prime"/>
                <a:sym typeface="Courier Prime"/>
              </a:rPr>
              <a:t>Postman - Get ObtenerTodos {</a:t>
            </a:r>
          </a:p>
        </p:txBody>
      </p:sp>
      <p:sp>
        <p:nvSpPr>
          <p:cNvPr id="4" name="TextBox 4"/>
          <p:cNvSpPr txBox="1"/>
          <p:nvPr/>
        </p:nvSpPr>
        <p:spPr>
          <a:xfrm>
            <a:off x="16557135" y="8675370"/>
            <a:ext cx="702165" cy="582930"/>
          </a:xfrm>
          <a:prstGeom prst="rect">
            <a:avLst/>
          </a:prstGeom>
        </p:spPr>
        <p:txBody>
          <a:bodyPr lIns="0" tIns="0" rIns="0" bIns="0" rtlCol="0" anchor="t">
            <a:spAutoFit/>
          </a:bodyPr>
          <a:lstStyle/>
          <a:p>
            <a:pPr algn="r">
              <a:lnSpc>
                <a:spcPts val="4559"/>
              </a:lnSpc>
            </a:pPr>
            <a:r>
              <a:rPr lang="en-US" sz="3999">
                <a:solidFill>
                  <a:srgbClr val="FFFFFF"/>
                </a:solidFill>
                <a:latin typeface="Courier Prime"/>
                <a:ea typeface="Courier Prime"/>
                <a:cs typeface="Courier Prime"/>
                <a:sym typeface="Courier Prime"/>
              </a:rPr>
              <a:t>}</a:t>
            </a:r>
          </a:p>
        </p:txBody>
      </p:sp>
    </p:spTree>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20232A"/>
        </a:solidFill>
        <a:effectLst/>
      </p:bgPr>
    </p:bg>
    <p:spTree>
      <p:nvGrpSpPr>
        <p:cNvPr id="1" name=""/>
        <p:cNvGrpSpPr/>
        <p:nvPr/>
      </p:nvGrpSpPr>
      <p:grpSpPr>
        <a:xfrm>
          <a:off x="0" y="0"/>
          <a:ext cx="0" cy="0"/>
          <a:chOff x="0" y="0"/>
          <a:chExt cx="0" cy="0"/>
        </a:xfrm>
      </p:grpSpPr>
      <p:sp>
        <p:nvSpPr>
          <p:cNvPr id="2" name="Freeform 2"/>
          <p:cNvSpPr/>
          <p:nvPr/>
        </p:nvSpPr>
        <p:spPr>
          <a:xfrm>
            <a:off x="1028700" y="2234169"/>
            <a:ext cx="15673162" cy="5818661"/>
          </a:xfrm>
          <a:custGeom>
            <a:avLst/>
            <a:gdLst/>
            <a:ahLst/>
            <a:cxnLst/>
            <a:rect l="l" t="t" r="r" b="b"/>
            <a:pathLst>
              <a:path w="15673162" h="5818661">
                <a:moveTo>
                  <a:pt x="0" y="0"/>
                </a:moveTo>
                <a:lnTo>
                  <a:pt x="15673162" y="0"/>
                </a:lnTo>
                <a:lnTo>
                  <a:pt x="15673162" y="5818662"/>
                </a:lnTo>
                <a:lnTo>
                  <a:pt x="0" y="5818662"/>
                </a:lnTo>
                <a:lnTo>
                  <a:pt x="0" y="0"/>
                </a:lnTo>
                <a:close/>
              </a:path>
            </a:pathLst>
          </a:custGeom>
          <a:blipFill>
            <a:blip r:embed="rId2"/>
            <a:stretch>
              <a:fillRect/>
            </a:stretch>
          </a:blipFill>
        </p:spPr>
        <p:txBody>
          <a:bodyPr/>
          <a:lstStyle/>
          <a:p>
            <a:endParaRPr lang="es-PA"/>
          </a:p>
        </p:txBody>
      </p:sp>
      <p:sp>
        <p:nvSpPr>
          <p:cNvPr id="3" name="TextBox 3"/>
          <p:cNvSpPr txBox="1"/>
          <p:nvPr/>
        </p:nvSpPr>
        <p:spPr>
          <a:xfrm>
            <a:off x="1028700" y="1047750"/>
            <a:ext cx="9443449" cy="582930"/>
          </a:xfrm>
          <a:prstGeom prst="rect">
            <a:avLst/>
          </a:prstGeom>
        </p:spPr>
        <p:txBody>
          <a:bodyPr lIns="0" tIns="0" rIns="0" bIns="0" rtlCol="0" anchor="t">
            <a:spAutoFit/>
          </a:bodyPr>
          <a:lstStyle/>
          <a:p>
            <a:pPr algn="l">
              <a:lnSpc>
                <a:spcPts val="4559"/>
              </a:lnSpc>
            </a:pPr>
            <a:r>
              <a:rPr lang="en-US" sz="3999">
                <a:solidFill>
                  <a:srgbClr val="FFFFFF"/>
                </a:solidFill>
                <a:latin typeface="Courier Prime"/>
                <a:ea typeface="Courier Prime"/>
                <a:cs typeface="Courier Prime"/>
                <a:sym typeface="Courier Prime"/>
              </a:rPr>
              <a:t>Postman - Get ObtenerSumas {</a:t>
            </a:r>
          </a:p>
        </p:txBody>
      </p:sp>
      <p:sp>
        <p:nvSpPr>
          <p:cNvPr id="4" name="TextBox 4"/>
          <p:cNvSpPr txBox="1"/>
          <p:nvPr/>
        </p:nvSpPr>
        <p:spPr>
          <a:xfrm>
            <a:off x="16557135" y="8675370"/>
            <a:ext cx="702165" cy="582930"/>
          </a:xfrm>
          <a:prstGeom prst="rect">
            <a:avLst/>
          </a:prstGeom>
        </p:spPr>
        <p:txBody>
          <a:bodyPr lIns="0" tIns="0" rIns="0" bIns="0" rtlCol="0" anchor="t">
            <a:spAutoFit/>
          </a:bodyPr>
          <a:lstStyle/>
          <a:p>
            <a:pPr algn="r">
              <a:lnSpc>
                <a:spcPts val="4559"/>
              </a:lnSpc>
            </a:pPr>
            <a:r>
              <a:rPr lang="en-US" sz="3999">
                <a:solidFill>
                  <a:srgbClr val="FFFFFF"/>
                </a:solidFill>
                <a:latin typeface="Courier Prime"/>
                <a:ea typeface="Courier Prime"/>
                <a:cs typeface="Courier Prime"/>
                <a:sym typeface="Courier Prime"/>
              </a:rPr>
              <a:t>}</a:t>
            </a:r>
          </a:p>
        </p:txBody>
      </p:sp>
    </p:spTree>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20232A"/>
        </a:solidFill>
        <a:effectLst/>
      </p:bgPr>
    </p:bg>
    <p:spTree>
      <p:nvGrpSpPr>
        <p:cNvPr id="1" name=""/>
        <p:cNvGrpSpPr/>
        <p:nvPr/>
      </p:nvGrpSpPr>
      <p:grpSpPr>
        <a:xfrm>
          <a:off x="0" y="0"/>
          <a:ext cx="0" cy="0"/>
          <a:chOff x="0" y="0"/>
          <a:chExt cx="0" cy="0"/>
        </a:xfrm>
      </p:grpSpPr>
      <p:sp>
        <p:nvSpPr>
          <p:cNvPr id="2" name="Freeform 2"/>
          <p:cNvSpPr/>
          <p:nvPr/>
        </p:nvSpPr>
        <p:spPr>
          <a:xfrm>
            <a:off x="2045273" y="2125523"/>
            <a:ext cx="14197454" cy="6619563"/>
          </a:xfrm>
          <a:custGeom>
            <a:avLst/>
            <a:gdLst/>
            <a:ahLst/>
            <a:cxnLst/>
            <a:rect l="l" t="t" r="r" b="b"/>
            <a:pathLst>
              <a:path w="14197454" h="6619563">
                <a:moveTo>
                  <a:pt x="0" y="0"/>
                </a:moveTo>
                <a:lnTo>
                  <a:pt x="14197454" y="0"/>
                </a:lnTo>
                <a:lnTo>
                  <a:pt x="14197454" y="6619563"/>
                </a:lnTo>
                <a:lnTo>
                  <a:pt x="0" y="6619563"/>
                </a:lnTo>
                <a:lnTo>
                  <a:pt x="0" y="0"/>
                </a:lnTo>
                <a:close/>
              </a:path>
            </a:pathLst>
          </a:custGeom>
          <a:blipFill>
            <a:blip r:embed="rId2"/>
            <a:stretch>
              <a:fillRect/>
            </a:stretch>
          </a:blipFill>
        </p:spPr>
        <p:txBody>
          <a:bodyPr/>
          <a:lstStyle/>
          <a:p>
            <a:endParaRPr lang="es-PA"/>
          </a:p>
        </p:txBody>
      </p:sp>
      <p:sp>
        <p:nvSpPr>
          <p:cNvPr id="3" name="TextBox 3"/>
          <p:cNvSpPr txBox="1"/>
          <p:nvPr/>
        </p:nvSpPr>
        <p:spPr>
          <a:xfrm>
            <a:off x="1028700" y="1047750"/>
            <a:ext cx="9443449" cy="582930"/>
          </a:xfrm>
          <a:prstGeom prst="rect">
            <a:avLst/>
          </a:prstGeom>
        </p:spPr>
        <p:txBody>
          <a:bodyPr lIns="0" tIns="0" rIns="0" bIns="0" rtlCol="0" anchor="t">
            <a:spAutoFit/>
          </a:bodyPr>
          <a:lstStyle/>
          <a:p>
            <a:pPr algn="l">
              <a:lnSpc>
                <a:spcPts val="4559"/>
              </a:lnSpc>
            </a:pPr>
            <a:r>
              <a:rPr lang="en-US" sz="3999">
                <a:solidFill>
                  <a:srgbClr val="FFFFFF"/>
                </a:solidFill>
                <a:latin typeface="Courier Prime"/>
                <a:ea typeface="Courier Prime"/>
                <a:cs typeface="Courier Prime"/>
                <a:sym typeface="Courier Prime"/>
              </a:rPr>
              <a:t>Postman - Get ObtenerRestas {</a:t>
            </a:r>
          </a:p>
        </p:txBody>
      </p:sp>
    </p:spTree>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20232A"/>
        </a:solidFill>
        <a:effectLst/>
      </p:bgPr>
    </p:bg>
    <p:spTree>
      <p:nvGrpSpPr>
        <p:cNvPr id="1" name=""/>
        <p:cNvGrpSpPr/>
        <p:nvPr/>
      </p:nvGrpSpPr>
      <p:grpSpPr>
        <a:xfrm>
          <a:off x="0" y="0"/>
          <a:ext cx="0" cy="0"/>
          <a:chOff x="0" y="0"/>
          <a:chExt cx="0" cy="0"/>
        </a:xfrm>
      </p:grpSpPr>
      <p:sp>
        <p:nvSpPr>
          <p:cNvPr id="2" name="Freeform 2"/>
          <p:cNvSpPr/>
          <p:nvPr/>
        </p:nvSpPr>
        <p:spPr>
          <a:xfrm>
            <a:off x="1624436" y="2205066"/>
            <a:ext cx="14750905" cy="6711662"/>
          </a:xfrm>
          <a:custGeom>
            <a:avLst/>
            <a:gdLst/>
            <a:ahLst/>
            <a:cxnLst/>
            <a:rect l="l" t="t" r="r" b="b"/>
            <a:pathLst>
              <a:path w="14750905" h="6711662">
                <a:moveTo>
                  <a:pt x="0" y="0"/>
                </a:moveTo>
                <a:lnTo>
                  <a:pt x="14750906" y="0"/>
                </a:lnTo>
                <a:lnTo>
                  <a:pt x="14750906" y="6711662"/>
                </a:lnTo>
                <a:lnTo>
                  <a:pt x="0" y="6711662"/>
                </a:lnTo>
                <a:lnTo>
                  <a:pt x="0" y="0"/>
                </a:lnTo>
                <a:close/>
              </a:path>
            </a:pathLst>
          </a:custGeom>
          <a:blipFill>
            <a:blip r:embed="rId2"/>
            <a:stretch>
              <a:fillRect/>
            </a:stretch>
          </a:blipFill>
        </p:spPr>
        <p:txBody>
          <a:bodyPr/>
          <a:lstStyle/>
          <a:p>
            <a:endParaRPr lang="es-PA"/>
          </a:p>
        </p:txBody>
      </p:sp>
      <p:sp>
        <p:nvSpPr>
          <p:cNvPr id="3" name="TextBox 3"/>
          <p:cNvSpPr txBox="1"/>
          <p:nvPr/>
        </p:nvSpPr>
        <p:spPr>
          <a:xfrm>
            <a:off x="1028700" y="1047750"/>
            <a:ext cx="12574313" cy="582930"/>
          </a:xfrm>
          <a:prstGeom prst="rect">
            <a:avLst/>
          </a:prstGeom>
        </p:spPr>
        <p:txBody>
          <a:bodyPr lIns="0" tIns="0" rIns="0" bIns="0" rtlCol="0" anchor="t">
            <a:spAutoFit/>
          </a:bodyPr>
          <a:lstStyle/>
          <a:p>
            <a:pPr algn="l">
              <a:lnSpc>
                <a:spcPts val="4559"/>
              </a:lnSpc>
            </a:pPr>
            <a:r>
              <a:rPr lang="en-US" sz="3999">
                <a:solidFill>
                  <a:srgbClr val="FFFFFF"/>
                </a:solidFill>
                <a:latin typeface="Courier Prime"/>
                <a:ea typeface="Courier Prime"/>
                <a:cs typeface="Courier Prime"/>
                <a:sym typeface="Courier Prime"/>
              </a:rPr>
              <a:t>Postman - Get ObtenerMultiplicaciones {</a:t>
            </a:r>
          </a:p>
        </p:txBody>
      </p:sp>
    </p:spTree>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20232A"/>
        </a:solidFill>
        <a:effectLst/>
      </p:bgPr>
    </p:bg>
    <p:spTree>
      <p:nvGrpSpPr>
        <p:cNvPr id="1" name=""/>
        <p:cNvGrpSpPr/>
        <p:nvPr/>
      </p:nvGrpSpPr>
      <p:grpSpPr>
        <a:xfrm>
          <a:off x="0" y="0"/>
          <a:ext cx="0" cy="0"/>
          <a:chOff x="0" y="0"/>
          <a:chExt cx="0" cy="0"/>
        </a:xfrm>
      </p:grpSpPr>
      <p:sp>
        <p:nvSpPr>
          <p:cNvPr id="2" name="Freeform 2"/>
          <p:cNvSpPr/>
          <p:nvPr/>
        </p:nvSpPr>
        <p:spPr>
          <a:xfrm>
            <a:off x="1579918" y="2487598"/>
            <a:ext cx="15128164" cy="6126906"/>
          </a:xfrm>
          <a:custGeom>
            <a:avLst/>
            <a:gdLst/>
            <a:ahLst/>
            <a:cxnLst/>
            <a:rect l="l" t="t" r="r" b="b"/>
            <a:pathLst>
              <a:path w="15128164" h="6126906">
                <a:moveTo>
                  <a:pt x="0" y="0"/>
                </a:moveTo>
                <a:lnTo>
                  <a:pt x="15128164" y="0"/>
                </a:lnTo>
                <a:lnTo>
                  <a:pt x="15128164" y="6126906"/>
                </a:lnTo>
                <a:lnTo>
                  <a:pt x="0" y="6126906"/>
                </a:lnTo>
                <a:lnTo>
                  <a:pt x="0" y="0"/>
                </a:lnTo>
                <a:close/>
              </a:path>
            </a:pathLst>
          </a:custGeom>
          <a:blipFill>
            <a:blip r:embed="rId2"/>
            <a:stretch>
              <a:fillRect/>
            </a:stretch>
          </a:blipFill>
        </p:spPr>
        <p:txBody>
          <a:bodyPr/>
          <a:lstStyle/>
          <a:p>
            <a:endParaRPr lang="es-PA"/>
          </a:p>
        </p:txBody>
      </p:sp>
      <p:sp>
        <p:nvSpPr>
          <p:cNvPr id="3" name="TextBox 3"/>
          <p:cNvSpPr txBox="1"/>
          <p:nvPr/>
        </p:nvSpPr>
        <p:spPr>
          <a:xfrm>
            <a:off x="1028700" y="1047750"/>
            <a:ext cx="12574313" cy="582930"/>
          </a:xfrm>
          <a:prstGeom prst="rect">
            <a:avLst/>
          </a:prstGeom>
        </p:spPr>
        <p:txBody>
          <a:bodyPr lIns="0" tIns="0" rIns="0" bIns="0" rtlCol="0" anchor="t">
            <a:spAutoFit/>
          </a:bodyPr>
          <a:lstStyle/>
          <a:p>
            <a:pPr algn="l">
              <a:lnSpc>
                <a:spcPts val="4559"/>
              </a:lnSpc>
            </a:pPr>
            <a:r>
              <a:rPr lang="en-US" sz="3999">
                <a:solidFill>
                  <a:srgbClr val="FFFFFF"/>
                </a:solidFill>
                <a:latin typeface="Courier Prime"/>
                <a:ea typeface="Courier Prime"/>
                <a:cs typeface="Courier Prime"/>
                <a:sym typeface="Courier Prime"/>
              </a:rPr>
              <a:t>Postman - Get ObtenerDivisiones {</a:t>
            </a:r>
          </a:p>
        </p:txBody>
      </p:sp>
    </p:spTree>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20232A"/>
        </a:solidFill>
        <a:effectLst/>
      </p:bgPr>
    </p:bg>
    <p:spTree>
      <p:nvGrpSpPr>
        <p:cNvPr id="1" name=""/>
        <p:cNvGrpSpPr/>
        <p:nvPr/>
      </p:nvGrpSpPr>
      <p:grpSpPr>
        <a:xfrm>
          <a:off x="0" y="0"/>
          <a:ext cx="0" cy="0"/>
          <a:chOff x="0" y="0"/>
          <a:chExt cx="0" cy="0"/>
        </a:xfrm>
      </p:grpSpPr>
      <p:sp>
        <p:nvSpPr>
          <p:cNvPr id="2" name="Freeform 2"/>
          <p:cNvSpPr/>
          <p:nvPr/>
        </p:nvSpPr>
        <p:spPr>
          <a:xfrm>
            <a:off x="1870107" y="1961172"/>
            <a:ext cx="14547786" cy="6364656"/>
          </a:xfrm>
          <a:custGeom>
            <a:avLst/>
            <a:gdLst/>
            <a:ahLst/>
            <a:cxnLst/>
            <a:rect l="l" t="t" r="r" b="b"/>
            <a:pathLst>
              <a:path w="14547786" h="6364656">
                <a:moveTo>
                  <a:pt x="0" y="0"/>
                </a:moveTo>
                <a:lnTo>
                  <a:pt x="14547786" y="0"/>
                </a:lnTo>
                <a:lnTo>
                  <a:pt x="14547786" y="6364656"/>
                </a:lnTo>
                <a:lnTo>
                  <a:pt x="0" y="6364656"/>
                </a:lnTo>
                <a:lnTo>
                  <a:pt x="0" y="0"/>
                </a:lnTo>
                <a:close/>
              </a:path>
            </a:pathLst>
          </a:custGeom>
          <a:blipFill>
            <a:blip r:embed="rId2"/>
            <a:stretch>
              <a:fillRect/>
            </a:stretch>
          </a:blipFill>
        </p:spPr>
        <p:txBody>
          <a:bodyPr/>
          <a:lstStyle/>
          <a:p>
            <a:endParaRPr lang="es-PA"/>
          </a:p>
        </p:txBody>
      </p:sp>
      <p:sp>
        <p:nvSpPr>
          <p:cNvPr id="3" name="TextBox 3"/>
          <p:cNvSpPr txBox="1"/>
          <p:nvPr/>
        </p:nvSpPr>
        <p:spPr>
          <a:xfrm>
            <a:off x="1028700" y="1047750"/>
            <a:ext cx="12574313" cy="582930"/>
          </a:xfrm>
          <a:prstGeom prst="rect">
            <a:avLst/>
          </a:prstGeom>
        </p:spPr>
        <p:txBody>
          <a:bodyPr lIns="0" tIns="0" rIns="0" bIns="0" rtlCol="0" anchor="t">
            <a:spAutoFit/>
          </a:bodyPr>
          <a:lstStyle/>
          <a:p>
            <a:pPr algn="l">
              <a:lnSpc>
                <a:spcPts val="4559"/>
              </a:lnSpc>
            </a:pPr>
            <a:r>
              <a:rPr lang="en-US" sz="3999">
                <a:solidFill>
                  <a:srgbClr val="FFFFFF"/>
                </a:solidFill>
                <a:latin typeface="Courier Prime"/>
                <a:ea typeface="Courier Prime"/>
                <a:cs typeface="Courier Prime"/>
                <a:sym typeface="Courier Prime"/>
              </a:rPr>
              <a:t>Postman - Get ObtenerCalculosRecientes {</a:t>
            </a:r>
          </a:p>
        </p:txBody>
      </p:sp>
    </p:spTree>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20232A"/>
        </a:solidFill>
        <a:effectLst/>
      </p:bgPr>
    </p:bg>
    <p:spTree>
      <p:nvGrpSpPr>
        <p:cNvPr id="1" name=""/>
        <p:cNvGrpSpPr/>
        <p:nvPr/>
      </p:nvGrpSpPr>
      <p:grpSpPr>
        <a:xfrm>
          <a:off x="0" y="0"/>
          <a:ext cx="0" cy="0"/>
          <a:chOff x="0" y="0"/>
          <a:chExt cx="0" cy="0"/>
        </a:xfrm>
      </p:grpSpPr>
      <p:sp>
        <p:nvSpPr>
          <p:cNvPr id="2" name="Freeform 2"/>
          <p:cNvSpPr/>
          <p:nvPr/>
        </p:nvSpPr>
        <p:spPr>
          <a:xfrm>
            <a:off x="1560200" y="1948807"/>
            <a:ext cx="15348018" cy="7309493"/>
          </a:xfrm>
          <a:custGeom>
            <a:avLst/>
            <a:gdLst/>
            <a:ahLst/>
            <a:cxnLst/>
            <a:rect l="l" t="t" r="r" b="b"/>
            <a:pathLst>
              <a:path w="15348018" h="7309493">
                <a:moveTo>
                  <a:pt x="0" y="0"/>
                </a:moveTo>
                <a:lnTo>
                  <a:pt x="15348018" y="0"/>
                </a:lnTo>
                <a:lnTo>
                  <a:pt x="15348018" y="7309493"/>
                </a:lnTo>
                <a:lnTo>
                  <a:pt x="0" y="7309493"/>
                </a:lnTo>
                <a:lnTo>
                  <a:pt x="0" y="0"/>
                </a:lnTo>
                <a:close/>
              </a:path>
            </a:pathLst>
          </a:custGeom>
          <a:blipFill>
            <a:blip r:embed="rId2"/>
            <a:stretch>
              <a:fillRect/>
            </a:stretch>
          </a:blipFill>
        </p:spPr>
        <p:txBody>
          <a:bodyPr/>
          <a:lstStyle/>
          <a:p>
            <a:endParaRPr lang="es-PA"/>
          </a:p>
        </p:txBody>
      </p:sp>
      <p:sp>
        <p:nvSpPr>
          <p:cNvPr id="3" name="TextBox 3"/>
          <p:cNvSpPr txBox="1"/>
          <p:nvPr/>
        </p:nvSpPr>
        <p:spPr>
          <a:xfrm>
            <a:off x="1028700" y="1047750"/>
            <a:ext cx="9443449" cy="582930"/>
          </a:xfrm>
          <a:prstGeom prst="rect">
            <a:avLst/>
          </a:prstGeom>
        </p:spPr>
        <p:txBody>
          <a:bodyPr lIns="0" tIns="0" rIns="0" bIns="0" rtlCol="0" anchor="t">
            <a:spAutoFit/>
          </a:bodyPr>
          <a:lstStyle/>
          <a:p>
            <a:pPr algn="l">
              <a:lnSpc>
                <a:spcPts val="4559"/>
              </a:lnSpc>
            </a:pPr>
            <a:r>
              <a:rPr lang="en-US" sz="3999">
                <a:solidFill>
                  <a:srgbClr val="FFFFFF"/>
                </a:solidFill>
                <a:latin typeface="Courier Prime"/>
                <a:ea typeface="Courier Prime"/>
                <a:cs typeface="Courier Prime"/>
                <a:sym typeface="Courier Prime"/>
              </a:rPr>
              <a:t>Código Fuente WebForms {</a:t>
            </a:r>
          </a:p>
        </p:txBody>
      </p:sp>
      <p:sp>
        <p:nvSpPr>
          <p:cNvPr id="4" name="TextBox 4"/>
          <p:cNvSpPr txBox="1"/>
          <p:nvPr/>
        </p:nvSpPr>
        <p:spPr>
          <a:xfrm>
            <a:off x="16557135" y="8675370"/>
            <a:ext cx="702165" cy="582930"/>
          </a:xfrm>
          <a:prstGeom prst="rect">
            <a:avLst/>
          </a:prstGeom>
        </p:spPr>
        <p:txBody>
          <a:bodyPr lIns="0" tIns="0" rIns="0" bIns="0" rtlCol="0" anchor="t">
            <a:spAutoFit/>
          </a:bodyPr>
          <a:lstStyle/>
          <a:p>
            <a:pPr algn="r">
              <a:lnSpc>
                <a:spcPts val="4559"/>
              </a:lnSpc>
            </a:pPr>
            <a:r>
              <a:rPr lang="en-US" sz="3999">
                <a:solidFill>
                  <a:srgbClr val="FFFFFF"/>
                </a:solidFill>
                <a:latin typeface="Courier Prime"/>
                <a:ea typeface="Courier Prime"/>
                <a:cs typeface="Courier Prime"/>
                <a:sym typeface="Courier Prime"/>
              </a:rPr>
              <a:t>}</a:t>
            </a:r>
          </a:p>
        </p:txBody>
      </p:sp>
    </p:spTree>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20232A"/>
        </a:solidFill>
        <a:effectLst/>
      </p:bgPr>
    </p:bg>
    <p:spTree>
      <p:nvGrpSpPr>
        <p:cNvPr id="1" name=""/>
        <p:cNvGrpSpPr/>
        <p:nvPr/>
      </p:nvGrpSpPr>
      <p:grpSpPr>
        <a:xfrm>
          <a:off x="0" y="0"/>
          <a:ext cx="0" cy="0"/>
          <a:chOff x="0" y="0"/>
          <a:chExt cx="0" cy="0"/>
        </a:xfrm>
      </p:grpSpPr>
      <p:sp>
        <p:nvSpPr>
          <p:cNvPr id="2" name="Freeform 2"/>
          <p:cNvSpPr/>
          <p:nvPr/>
        </p:nvSpPr>
        <p:spPr>
          <a:xfrm>
            <a:off x="1535121" y="1763630"/>
            <a:ext cx="14767822" cy="7494670"/>
          </a:xfrm>
          <a:custGeom>
            <a:avLst/>
            <a:gdLst/>
            <a:ahLst/>
            <a:cxnLst/>
            <a:rect l="l" t="t" r="r" b="b"/>
            <a:pathLst>
              <a:path w="14767822" h="7494670">
                <a:moveTo>
                  <a:pt x="0" y="0"/>
                </a:moveTo>
                <a:lnTo>
                  <a:pt x="14767822" y="0"/>
                </a:lnTo>
                <a:lnTo>
                  <a:pt x="14767822" y="7494670"/>
                </a:lnTo>
                <a:lnTo>
                  <a:pt x="0" y="7494670"/>
                </a:lnTo>
                <a:lnTo>
                  <a:pt x="0" y="0"/>
                </a:lnTo>
                <a:close/>
              </a:path>
            </a:pathLst>
          </a:custGeom>
          <a:blipFill>
            <a:blip r:embed="rId2"/>
            <a:stretch>
              <a:fillRect/>
            </a:stretch>
          </a:blipFill>
        </p:spPr>
        <p:txBody>
          <a:bodyPr/>
          <a:lstStyle/>
          <a:p>
            <a:endParaRPr lang="es-PA"/>
          </a:p>
        </p:txBody>
      </p:sp>
      <p:sp>
        <p:nvSpPr>
          <p:cNvPr id="3" name="TextBox 3"/>
          <p:cNvSpPr txBox="1"/>
          <p:nvPr/>
        </p:nvSpPr>
        <p:spPr>
          <a:xfrm>
            <a:off x="1028700" y="1047750"/>
            <a:ext cx="9443449" cy="582930"/>
          </a:xfrm>
          <a:prstGeom prst="rect">
            <a:avLst/>
          </a:prstGeom>
        </p:spPr>
        <p:txBody>
          <a:bodyPr lIns="0" tIns="0" rIns="0" bIns="0" rtlCol="0" anchor="t">
            <a:spAutoFit/>
          </a:bodyPr>
          <a:lstStyle/>
          <a:p>
            <a:pPr algn="l">
              <a:lnSpc>
                <a:spcPts val="4559"/>
              </a:lnSpc>
            </a:pPr>
            <a:r>
              <a:rPr lang="en-US" sz="3999">
                <a:solidFill>
                  <a:srgbClr val="FFFFFF"/>
                </a:solidFill>
                <a:latin typeface="Courier Prime"/>
                <a:ea typeface="Courier Prime"/>
                <a:cs typeface="Courier Prime"/>
                <a:sym typeface="Courier Prime"/>
              </a:rPr>
              <a:t>Código Fuente WebForms {</a:t>
            </a:r>
          </a:p>
        </p:txBody>
      </p:sp>
      <p:sp>
        <p:nvSpPr>
          <p:cNvPr id="4" name="TextBox 4"/>
          <p:cNvSpPr txBox="1"/>
          <p:nvPr/>
        </p:nvSpPr>
        <p:spPr>
          <a:xfrm>
            <a:off x="16557135" y="8675370"/>
            <a:ext cx="702165" cy="582930"/>
          </a:xfrm>
          <a:prstGeom prst="rect">
            <a:avLst/>
          </a:prstGeom>
        </p:spPr>
        <p:txBody>
          <a:bodyPr lIns="0" tIns="0" rIns="0" bIns="0" rtlCol="0" anchor="t">
            <a:spAutoFit/>
          </a:bodyPr>
          <a:lstStyle/>
          <a:p>
            <a:pPr algn="r">
              <a:lnSpc>
                <a:spcPts val="4559"/>
              </a:lnSpc>
            </a:pPr>
            <a:r>
              <a:rPr lang="en-US" sz="3999">
                <a:solidFill>
                  <a:srgbClr val="FFFFFF"/>
                </a:solidFill>
                <a:latin typeface="Courier Prime"/>
                <a:ea typeface="Courier Prime"/>
                <a:cs typeface="Courier Prime"/>
                <a:sym typeface="Courier Prime"/>
              </a:rPr>
              <a:t>}</a:t>
            </a:r>
          </a:p>
        </p:txBody>
      </p:sp>
    </p:spTree>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20232A"/>
        </a:solidFill>
        <a:effectLst/>
      </p:bgPr>
    </p:bg>
    <p:spTree>
      <p:nvGrpSpPr>
        <p:cNvPr id="1" name=""/>
        <p:cNvGrpSpPr/>
        <p:nvPr/>
      </p:nvGrpSpPr>
      <p:grpSpPr>
        <a:xfrm>
          <a:off x="0" y="0"/>
          <a:ext cx="0" cy="0"/>
          <a:chOff x="0" y="0"/>
          <a:chExt cx="0" cy="0"/>
        </a:xfrm>
      </p:grpSpPr>
      <p:sp>
        <p:nvSpPr>
          <p:cNvPr id="2" name="Freeform 2"/>
          <p:cNvSpPr/>
          <p:nvPr/>
        </p:nvSpPr>
        <p:spPr>
          <a:xfrm>
            <a:off x="1942697" y="2005068"/>
            <a:ext cx="14792005" cy="6952242"/>
          </a:xfrm>
          <a:custGeom>
            <a:avLst/>
            <a:gdLst/>
            <a:ahLst/>
            <a:cxnLst/>
            <a:rect l="l" t="t" r="r" b="b"/>
            <a:pathLst>
              <a:path w="14792005" h="6952242">
                <a:moveTo>
                  <a:pt x="0" y="0"/>
                </a:moveTo>
                <a:lnTo>
                  <a:pt x="14792005" y="0"/>
                </a:lnTo>
                <a:lnTo>
                  <a:pt x="14792005" y="6952242"/>
                </a:lnTo>
                <a:lnTo>
                  <a:pt x="0" y="6952242"/>
                </a:lnTo>
                <a:lnTo>
                  <a:pt x="0" y="0"/>
                </a:lnTo>
                <a:close/>
              </a:path>
            </a:pathLst>
          </a:custGeom>
          <a:blipFill>
            <a:blip r:embed="rId2"/>
            <a:stretch>
              <a:fillRect/>
            </a:stretch>
          </a:blipFill>
        </p:spPr>
        <p:txBody>
          <a:bodyPr/>
          <a:lstStyle/>
          <a:p>
            <a:endParaRPr lang="es-PA"/>
          </a:p>
        </p:txBody>
      </p:sp>
      <p:sp>
        <p:nvSpPr>
          <p:cNvPr id="3" name="TextBox 3"/>
          <p:cNvSpPr txBox="1"/>
          <p:nvPr/>
        </p:nvSpPr>
        <p:spPr>
          <a:xfrm>
            <a:off x="1028700" y="1047750"/>
            <a:ext cx="9443449" cy="582930"/>
          </a:xfrm>
          <a:prstGeom prst="rect">
            <a:avLst/>
          </a:prstGeom>
        </p:spPr>
        <p:txBody>
          <a:bodyPr lIns="0" tIns="0" rIns="0" bIns="0" rtlCol="0" anchor="t">
            <a:spAutoFit/>
          </a:bodyPr>
          <a:lstStyle/>
          <a:p>
            <a:pPr algn="l">
              <a:lnSpc>
                <a:spcPts val="4559"/>
              </a:lnSpc>
            </a:pPr>
            <a:r>
              <a:rPr lang="en-US" sz="3999">
                <a:solidFill>
                  <a:srgbClr val="FFFFFF"/>
                </a:solidFill>
                <a:latin typeface="Courier Prime"/>
                <a:ea typeface="Courier Prime"/>
                <a:cs typeface="Courier Prime"/>
                <a:sym typeface="Courier Prime"/>
              </a:rPr>
              <a:t>Código Fuente WebForms {</a:t>
            </a:r>
          </a:p>
        </p:txBody>
      </p:sp>
      <p:sp>
        <p:nvSpPr>
          <p:cNvPr id="4" name="TextBox 4"/>
          <p:cNvSpPr txBox="1"/>
          <p:nvPr/>
        </p:nvSpPr>
        <p:spPr>
          <a:xfrm>
            <a:off x="16557135" y="8675370"/>
            <a:ext cx="702165" cy="582930"/>
          </a:xfrm>
          <a:prstGeom prst="rect">
            <a:avLst/>
          </a:prstGeom>
        </p:spPr>
        <p:txBody>
          <a:bodyPr lIns="0" tIns="0" rIns="0" bIns="0" rtlCol="0" anchor="t">
            <a:spAutoFit/>
          </a:bodyPr>
          <a:lstStyle/>
          <a:p>
            <a:pPr algn="r">
              <a:lnSpc>
                <a:spcPts val="4559"/>
              </a:lnSpc>
            </a:pPr>
            <a:r>
              <a:rPr lang="en-US" sz="3999">
                <a:solidFill>
                  <a:srgbClr val="FFFFFF"/>
                </a:solidFill>
                <a:latin typeface="Courier Prime"/>
                <a:ea typeface="Courier Prime"/>
                <a:cs typeface="Courier Prime"/>
                <a:sym typeface="Courier Prime"/>
              </a:rPr>
              <a:t>}</a:t>
            </a:r>
          </a:p>
        </p:txBody>
      </p:sp>
    </p:spTree>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20232A"/>
        </a:solidFill>
        <a:effectLst/>
      </p:bgPr>
    </p:bg>
    <p:spTree>
      <p:nvGrpSpPr>
        <p:cNvPr id="1" name=""/>
        <p:cNvGrpSpPr/>
        <p:nvPr/>
      </p:nvGrpSpPr>
      <p:grpSpPr>
        <a:xfrm>
          <a:off x="0" y="0"/>
          <a:ext cx="0" cy="0"/>
          <a:chOff x="0" y="0"/>
          <a:chExt cx="0" cy="0"/>
        </a:xfrm>
      </p:grpSpPr>
      <p:sp>
        <p:nvSpPr>
          <p:cNvPr id="2" name="Freeform 2"/>
          <p:cNvSpPr/>
          <p:nvPr/>
        </p:nvSpPr>
        <p:spPr>
          <a:xfrm>
            <a:off x="1584697" y="2779293"/>
            <a:ext cx="15472248" cy="4254868"/>
          </a:xfrm>
          <a:custGeom>
            <a:avLst/>
            <a:gdLst/>
            <a:ahLst/>
            <a:cxnLst/>
            <a:rect l="l" t="t" r="r" b="b"/>
            <a:pathLst>
              <a:path w="15472248" h="4254868">
                <a:moveTo>
                  <a:pt x="0" y="0"/>
                </a:moveTo>
                <a:lnTo>
                  <a:pt x="15472248" y="0"/>
                </a:lnTo>
                <a:lnTo>
                  <a:pt x="15472248" y="4254868"/>
                </a:lnTo>
                <a:lnTo>
                  <a:pt x="0" y="4254868"/>
                </a:lnTo>
                <a:lnTo>
                  <a:pt x="0" y="0"/>
                </a:lnTo>
                <a:close/>
              </a:path>
            </a:pathLst>
          </a:custGeom>
          <a:blipFill>
            <a:blip r:embed="rId2"/>
            <a:stretch>
              <a:fillRect/>
            </a:stretch>
          </a:blipFill>
        </p:spPr>
        <p:txBody>
          <a:bodyPr/>
          <a:lstStyle/>
          <a:p>
            <a:endParaRPr lang="es-PA"/>
          </a:p>
        </p:txBody>
      </p:sp>
      <p:sp>
        <p:nvSpPr>
          <p:cNvPr id="3" name="TextBox 3"/>
          <p:cNvSpPr txBox="1"/>
          <p:nvPr/>
        </p:nvSpPr>
        <p:spPr>
          <a:xfrm>
            <a:off x="1028700" y="1047750"/>
            <a:ext cx="9443449" cy="582930"/>
          </a:xfrm>
          <a:prstGeom prst="rect">
            <a:avLst/>
          </a:prstGeom>
        </p:spPr>
        <p:txBody>
          <a:bodyPr lIns="0" tIns="0" rIns="0" bIns="0" rtlCol="0" anchor="t">
            <a:spAutoFit/>
          </a:bodyPr>
          <a:lstStyle/>
          <a:p>
            <a:pPr algn="l">
              <a:lnSpc>
                <a:spcPts val="4559"/>
              </a:lnSpc>
            </a:pPr>
            <a:r>
              <a:rPr lang="en-US" sz="3999">
                <a:solidFill>
                  <a:srgbClr val="FFFFFF"/>
                </a:solidFill>
                <a:latin typeface="Courier Prime"/>
                <a:ea typeface="Courier Prime"/>
                <a:cs typeface="Courier Prime"/>
                <a:sym typeface="Courier Prime"/>
              </a:rPr>
              <a:t>Código Fuente WebForms {</a:t>
            </a:r>
          </a:p>
        </p:txBody>
      </p:sp>
      <p:sp>
        <p:nvSpPr>
          <p:cNvPr id="4" name="TextBox 4"/>
          <p:cNvSpPr txBox="1"/>
          <p:nvPr/>
        </p:nvSpPr>
        <p:spPr>
          <a:xfrm>
            <a:off x="16557135" y="8675370"/>
            <a:ext cx="702165" cy="582930"/>
          </a:xfrm>
          <a:prstGeom prst="rect">
            <a:avLst/>
          </a:prstGeom>
        </p:spPr>
        <p:txBody>
          <a:bodyPr lIns="0" tIns="0" rIns="0" bIns="0" rtlCol="0" anchor="t">
            <a:spAutoFit/>
          </a:bodyPr>
          <a:lstStyle/>
          <a:p>
            <a:pPr algn="r">
              <a:lnSpc>
                <a:spcPts val="4559"/>
              </a:lnSpc>
            </a:pPr>
            <a:r>
              <a:rPr lang="en-US" sz="3999">
                <a:solidFill>
                  <a:srgbClr val="FFFFFF"/>
                </a:solidFill>
                <a:latin typeface="Courier Prime"/>
                <a:ea typeface="Courier Prime"/>
                <a:cs typeface="Courier Prime"/>
                <a:sym typeface="Courier Prime"/>
              </a:rPr>
              <a:t>}</a:t>
            </a:r>
          </a:p>
        </p:txBody>
      </p:sp>
    </p:spTree>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20232A"/>
        </a:solidFill>
        <a:effectLst/>
      </p:bgPr>
    </p:bg>
    <p:spTree>
      <p:nvGrpSpPr>
        <p:cNvPr id="1" name=""/>
        <p:cNvGrpSpPr/>
        <p:nvPr/>
      </p:nvGrpSpPr>
      <p:grpSpPr>
        <a:xfrm>
          <a:off x="0" y="0"/>
          <a:ext cx="0" cy="0"/>
          <a:chOff x="0" y="0"/>
          <a:chExt cx="0" cy="0"/>
        </a:xfrm>
      </p:grpSpPr>
      <p:sp>
        <p:nvSpPr>
          <p:cNvPr id="2" name="Freeform 2"/>
          <p:cNvSpPr/>
          <p:nvPr/>
        </p:nvSpPr>
        <p:spPr>
          <a:xfrm>
            <a:off x="1863282" y="2196003"/>
            <a:ext cx="14561437" cy="7062297"/>
          </a:xfrm>
          <a:custGeom>
            <a:avLst/>
            <a:gdLst/>
            <a:ahLst/>
            <a:cxnLst/>
            <a:rect l="l" t="t" r="r" b="b"/>
            <a:pathLst>
              <a:path w="14561437" h="7062297">
                <a:moveTo>
                  <a:pt x="0" y="0"/>
                </a:moveTo>
                <a:lnTo>
                  <a:pt x="14561436" y="0"/>
                </a:lnTo>
                <a:lnTo>
                  <a:pt x="14561436" y="7062297"/>
                </a:lnTo>
                <a:lnTo>
                  <a:pt x="0" y="7062297"/>
                </a:lnTo>
                <a:lnTo>
                  <a:pt x="0" y="0"/>
                </a:lnTo>
                <a:close/>
              </a:path>
            </a:pathLst>
          </a:custGeom>
          <a:blipFill>
            <a:blip r:embed="rId2"/>
            <a:stretch>
              <a:fillRect/>
            </a:stretch>
          </a:blipFill>
        </p:spPr>
        <p:txBody>
          <a:bodyPr/>
          <a:lstStyle/>
          <a:p>
            <a:endParaRPr lang="es-PA"/>
          </a:p>
        </p:txBody>
      </p:sp>
      <p:sp>
        <p:nvSpPr>
          <p:cNvPr id="3" name="TextBox 3"/>
          <p:cNvSpPr txBox="1"/>
          <p:nvPr/>
        </p:nvSpPr>
        <p:spPr>
          <a:xfrm>
            <a:off x="1028700" y="1047750"/>
            <a:ext cx="10831575" cy="582930"/>
          </a:xfrm>
          <a:prstGeom prst="rect">
            <a:avLst/>
          </a:prstGeom>
        </p:spPr>
        <p:txBody>
          <a:bodyPr lIns="0" tIns="0" rIns="0" bIns="0" rtlCol="0" anchor="t">
            <a:spAutoFit/>
          </a:bodyPr>
          <a:lstStyle/>
          <a:p>
            <a:pPr algn="l">
              <a:lnSpc>
                <a:spcPts val="4559"/>
              </a:lnSpc>
            </a:pPr>
            <a:r>
              <a:rPr lang="en-US" sz="3999">
                <a:solidFill>
                  <a:srgbClr val="FFFFFF"/>
                </a:solidFill>
                <a:latin typeface="Courier Prime"/>
                <a:ea typeface="Courier Prime"/>
                <a:cs typeface="Courier Prime"/>
                <a:sym typeface="Courier Prime"/>
              </a:rPr>
              <a:t>Código Fuente CalculosController {</a:t>
            </a:r>
          </a:p>
        </p:txBody>
      </p:sp>
      <p:sp>
        <p:nvSpPr>
          <p:cNvPr id="4" name="TextBox 4"/>
          <p:cNvSpPr txBox="1"/>
          <p:nvPr/>
        </p:nvSpPr>
        <p:spPr>
          <a:xfrm>
            <a:off x="16557135" y="8675370"/>
            <a:ext cx="702165" cy="582930"/>
          </a:xfrm>
          <a:prstGeom prst="rect">
            <a:avLst/>
          </a:prstGeom>
        </p:spPr>
        <p:txBody>
          <a:bodyPr lIns="0" tIns="0" rIns="0" bIns="0" rtlCol="0" anchor="t">
            <a:spAutoFit/>
          </a:bodyPr>
          <a:lstStyle/>
          <a:p>
            <a:pPr algn="r">
              <a:lnSpc>
                <a:spcPts val="4559"/>
              </a:lnSpc>
            </a:pPr>
            <a:r>
              <a:rPr lang="en-US" sz="3999">
                <a:solidFill>
                  <a:srgbClr val="FFFFFF"/>
                </a:solidFill>
                <a:latin typeface="Courier Prime"/>
                <a:ea typeface="Courier Prime"/>
                <a:cs typeface="Courier Prime"/>
                <a:sym typeface="Courier Prime"/>
              </a:rPr>
              <a:t>}</a:t>
            </a:r>
          </a:p>
        </p:txBody>
      </p:sp>
    </p:spTree>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20232A"/>
        </a:solidFill>
        <a:effectLst/>
      </p:bgPr>
    </p:bg>
    <p:spTree>
      <p:nvGrpSpPr>
        <p:cNvPr id="1" name=""/>
        <p:cNvGrpSpPr/>
        <p:nvPr/>
      </p:nvGrpSpPr>
      <p:grpSpPr>
        <a:xfrm>
          <a:off x="0" y="0"/>
          <a:ext cx="0" cy="0"/>
          <a:chOff x="0" y="0"/>
          <a:chExt cx="0" cy="0"/>
        </a:xfrm>
      </p:grpSpPr>
      <p:sp>
        <p:nvSpPr>
          <p:cNvPr id="2" name="Freeform 2"/>
          <p:cNvSpPr/>
          <p:nvPr/>
        </p:nvSpPr>
        <p:spPr>
          <a:xfrm>
            <a:off x="1780560" y="2152581"/>
            <a:ext cx="14726879" cy="6804729"/>
          </a:xfrm>
          <a:custGeom>
            <a:avLst/>
            <a:gdLst/>
            <a:ahLst/>
            <a:cxnLst/>
            <a:rect l="l" t="t" r="r" b="b"/>
            <a:pathLst>
              <a:path w="14726879" h="6804729">
                <a:moveTo>
                  <a:pt x="0" y="0"/>
                </a:moveTo>
                <a:lnTo>
                  <a:pt x="14726880" y="0"/>
                </a:lnTo>
                <a:lnTo>
                  <a:pt x="14726880" y="6804729"/>
                </a:lnTo>
                <a:lnTo>
                  <a:pt x="0" y="6804729"/>
                </a:lnTo>
                <a:lnTo>
                  <a:pt x="0" y="0"/>
                </a:lnTo>
                <a:close/>
              </a:path>
            </a:pathLst>
          </a:custGeom>
          <a:blipFill>
            <a:blip r:embed="rId2"/>
            <a:stretch>
              <a:fillRect b="-4423"/>
            </a:stretch>
          </a:blipFill>
        </p:spPr>
        <p:txBody>
          <a:bodyPr/>
          <a:lstStyle/>
          <a:p>
            <a:endParaRPr lang="es-PA"/>
          </a:p>
        </p:txBody>
      </p:sp>
      <p:sp>
        <p:nvSpPr>
          <p:cNvPr id="3" name="TextBox 3"/>
          <p:cNvSpPr txBox="1"/>
          <p:nvPr/>
        </p:nvSpPr>
        <p:spPr>
          <a:xfrm>
            <a:off x="1028700" y="1047750"/>
            <a:ext cx="10831575" cy="582930"/>
          </a:xfrm>
          <a:prstGeom prst="rect">
            <a:avLst/>
          </a:prstGeom>
        </p:spPr>
        <p:txBody>
          <a:bodyPr lIns="0" tIns="0" rIns="0" bIns="0" rtlCol="0" anchor="t">
            <a:spAutoFit/>
          </a:bodyPr>
          <a:lstStyle/>
          <a:p>
            <a:pPr algn="l">
              <a:lnSpc>
                <a:spcPts val="4559"/>
              </a:lnSpc>
            </a:pPr>
            <a:r>
              <a:rPr lang="en-US" sz="3999">
                <a:solidFill>
                  <a:srgbClr val="FFFFFF"/>
                </a:solidFill>
                <a:latin typeface="Courier Prime"/>
                <a:ea typeface="Courier Prime"/>
                <a:cs typeface="Courier Prime"/>
                <a:sym typeface="Courier Prime"/>
              </a:rPr>
              <a:t>Código Fuente CalculosController {</a:t>
            </a:r>
          </a:p>
        </p:txBody>
      </p:sp>
      <p:sp>
        <p:nvSpPr>
          <p:cNvPr id="4" name="TextBox 4"/>
          <p:cNvSpPr txBox="1"/>
          <p:nvPr/>
        </p:nvSpPr>
        <p:spPr>
          <a:xfrm>
            <a:off x="16557135" y="8675370"/>
            <a:ext cx="702165" cy="582930"/>
          </a:xfrm>
          <a:prstGeom prst="rect">
            <a:avLst/>
          </a:prstGeom>
        </p:spPr>
        <p:txBody>
          <a:bodyPr lIns="0" tIns="0" rIns="0" bIns="0" rtlCol="0" anchor="t">
            <a:spAutoFit/>
          </a:bodyPr>
          <a:lstStyle/>
          <a:p>
            <a:pPr algn="r">
              <a:lnSpc>
                <a:spcPts val="4559"/>
              </a:lnSpc>
            </a:pPr>
            <a:r>
              <a:rPr lang="en-US" sz="3999">
                <a:solidFill>
                  <a:srgbClr val="FFFFFF"/>
                </a:solidFill>
                <a:latin typeface="Courier Prime"/>
                <a:ea typeface="Courier Prime"/>
                <a:cs typeface="Courier Prime"/>
                <a:sym typeface="Courier Prime"/>
              </a:rPr>
              <a:t>}</a:t>
            </a:r>
          </a:p>
        </p:txBody>
      </p:sp>
    </p:spTree>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20232A"/>
        </a:solidFill>
        <a:effectLst/>
      </p:bgPr>
    </p:bg>
    <p:spTree>
      <p:nvGrpSpPr>
        <p:cNvPr id="1" name=""/>
        <p:cNvGrpSpPr/>
        <p:nvPr/>
      </p:nvGrpSpPr>
      <p:grpSpPr>
        <a:xfrm>
          <a:off x="0" y="0"/>
          <a:ext cx="0" cy="0"/>
          <a:chOff x="0" y="0"/>
          <a:chExt cx="0" cy="0"/>
        </a:xfrm>
      </p:grpSpPr>
      <p:sp>
        <p:nvSpPr>
          <p:cNvPr id="2" name="Freeform 2"/>
          <p:cNvSpPr/>
          <p:nvPr/>
        </p:nvSpPr>
        <p:spPr>
          <a:xfrm>
            <a:off x="1884468" y="2133350"/>
            <a:ext cx="14519064" cy="6823960"/>
          </a:xfrm>
          <a:custGeom>
            <a:avLst/>
            <a:gdLst/>
            <a:ahLst/>
            <a:cxnLst/>
            <a:rect l="l" t="t" r="r" b="b"/>
            <a:pathLst>
              <a:path w="14519064" h="6823960">
                <a:moveTo>
                  <a:pt x="0" y="0"/>
                </a:moveTo>
                <a:lnTo>
                  <a:pt x="14519064" y="0"/>
                </a:lnTo>
                <a:lnTo>
                  <a:pt x="14519064" y="6823960"/>
                </a:lnTo>
                <a:lnTo>
                  <a:pt x="0" y="6823960"/>
                </a:lnTo>
                <a:lnTo>
                  <a:pt x="0" y="0"/>
                </a:lnTo>
                <a:close/>
              </a:path>
            </a:pathLst>
          </a:custGeom>
          <a:blipFill>
            <a:blip r:embed="rId2"/>
            <a:stretch>
              <a:fillRect/>
            </a:stretch>
          </a:blipFill>
        </p:spPr>
        <p:txBody>
          <a:bodyPr/>
          <a:lstStyle/>
          <a:p>
            <a:endParaRPr lang="es-PA"/>
          </a:p>
        </p:txBody>
      </p:sp>
      <p:sp>
        <p:nvSpPr>
          <p:cNvPr id="3" name="TextBox 3"/>
          <p:cNvSpPr txBox="1"/>
          <p:nvPr/>
        </p:nvSpPr>
        <p:spPr>
          <a:xfrm>
            <a:off x="1028700" y="1047750"/>
            <a:ext cx="10831575" cy="582930"/>
          </a:xfrm>
          <a:prstGeom prst="rect">
            <a:avLst/>
          </a:prstGeom>
        </p:spPr>
        <p:txBody>
          <a:bodyPr lIns="0" tIns="0" rIns="0" bIns="0" rtlCol="0" anchor="t">
            <a:spAutoFit/>
          </a:bodyPr>
          <a:lstStyle/>
          <a:p>
            <a:pPr algn="l">
              <a:lnSpc>
                <a:spcPts val="4559"/>
              </a:lnSpc>
            </a:pPr>
            <a:r>
              <a:rPr lang="en-US" sz="3999">
                <a:solidFill>
                  <a:srgbClr val="FFFFFF"/>
                </a:solidFill>
                <a:latin typeface="Courier Prime"/>
                <a:ea typeface="Courier Prime"/>
                <a:cs typeface="Courier Prime"/>
                <a:sym typeface="Courier Prime"/>
              </a:rPr>
              <a:t>Código Fuente CalculosController {</a:t>
            </a:r>
          </a:p>
        </p:txBody>
      </p:sp>
      <p:sp>
        <p:nvSpPr>
          <p:cNvPr id="4" name="TextBox 4"/>
          <p:cNvSpPr txBox="1"/>
          <p:nvPr/>
        </p:nvSpPr>
        <p:spPr>
          <a:xfrm>
            <a:off x="16557135" y="8675370"/>
            <a:ext cx="702165" cy="582930"/>
          </a:xfrm>
          <a:prstGeom prst="rect">
            <a:avLst/>
          </a:prstGeom>
        </p:spPr>
        <p:txBody>
          <a:bodyPr lIns="0" tIns="0" rIns="0" bIns="0" rtlCol="0" anchor="t">
            <a:spAutoFit/>
          </a:bodyPr>
          <a:lstStyle/>
          <a:p>
            <a:pPr algn="r">
              <a:lnSpc>
                <a:spcPts val="4559"/>
              </a:lnSpc>
            </a:pPr>
            <a:r>
              <a:rPr lang="en-US" sz="3999">
                <a:solidFill>
                  <a:srgbClr val="FFFFFF"/>
                </a:solidFill>
                <a:latin typeface="Courier Prime"/>
                <a:ea typeface="Courier Prime"/>
                <a:cs typeface="Courier Prime"/>
                <a:sym typeface="Courier Prime"/>
              </a:rPr>
              <a:t>}</a:t>
            </a:r>
          </a:p>
        </p:txBody>
      </p:sp>
    </p:spTree>
  </p:cSld>
  <p:clrMapOvr>
    <a:masterClrMapping/>
  </p:clrMapOvr>
  <p:transition spd="slow">
    <p:push dir="u"/>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20232A"/>
        </a:solidFill>
        <a:effectLst/>
      </p:bgPr>
    </p:bg>
    <p:spTree>
      <p:nvGrpSpPr>
        <p:cNvPr id="1" name=""/>
        <p:cNvGrpSpPr/>
        <p:nvPr/>
      </p:nvGrpSpPr>
      <p:grpSpPr>
        <a:xfrm>
          <a:off x="0" y="0"/>
          <a:ext cx="0" cy="0"/>
          <a:chOff x="0" y="0"/>
          <a:chExt cx="0" cy="0"/>
        </a:xfrm>
      </p:grpSpPr>
      <p:sp>
        <p:nvSpPr>
          <p:cNvPr id="2" name="Freeform 2"/>
          <p:cNvSpPr/>
          <p:nvPr/>
        </p:nvSpPr>
        <p:spPr>
          <a:xfrm>
            <a:off x="1753805" y="1992052"/>
            <a:ext cx="14780389" cy="6965258"/>
          </a:xfrm>
          <a:custGeom>
            <a:avLst/>
            <a:gdLst/>
            <a:ahLst/>
            <a:cxnLst/>
            <a:rect l="l" t="t" r="r" b="b"/>
            <a:pathLst>
              <a:path w="14780389" h="6965258">
                <a:moveTo>
                  <a:pt x="0" y="0"/>
                </a:moveTo>
                <a:lnTo>
                  <a:pt x="14780390" y="0"/>
                </a:lnTo>
                <a:lnTo>
                  <a:pt x="14780390" y="6965258"/>
                </a:lnTo>
                <a:lnTo>
                  <a:pt x="0" y="6965258"/>
                </a:lnTo>
                <a:lnTo>
                  <a:pt x="0" y="0"/>
                </a:lnTo>
                <a:close/>
              </a:path>
            </a:pathLst>
          </a:custGeom>
          <a:blipFill>
            <a:blip r:embed="rId2"/>
            <a:stretch>
              <a:fillRect/>
            </a:stretch>
          </a:blipFill>
        </p:spPr>
        <p:txBody>
          <a:bodyPr/>
          <a:lstStyle/>
          <a:p>
            <a:endParaRPr lang="es-PA"/>
          </a:p>
        </p:txBody>
      </p:sp>
      <p:sp>
        <p:nvSpPr>
          <p:cNvPr id="3" name="TextBox 3"/>
          <p:cNvSpPr txBox="1"/>
          <p:nvPr/>
        </p:nvSpPr>
        <p:spPr>
          <a:xfrm>
            <a:off x="1028700" y="1047750"/>
            <a:ext cx="10831575" cy="582930"/>
          </a:xfrm>
          <a:prstGeom prst="rect">
            <a:avLst/>
          </a:prstGeom>
        </p:spPr>
        <p:txBody>
          <a:bodyPr lIns="0" tIns="0" rIns="0" bIns="0" rtlCol="0" anchor="t">
            <a:spAutoFit/>
          </a:bodyPr>
          <a:lstStyle/>
          <a:p>
            <a:pPr algn="l">
              <a:lnSpc>
                <a:spcPts val="4559"/>
              </a:lnSpc>
            </a:pPr>
            <a:r>
              <a:rPr lang="en-US" sz="3999">
                <a:solidFill>
                  <a:srgbClr val="FFFFFF"/>
                </a:solidFill>
                <a:latin typeface="Courier Prime"/>
                <a:ea typeface="Courier Prime"/>
                <a:cs typeface="Courier Prime"/>
                <a:sym typeface="Courier Prime"/>
              </a:rPr>
              <a:t>Código Fuente CalculosController {</a:t>
            </a:r>
          </a:p>
        </p:txBody>
      </p:sp>
      <p:sp>
        <p:nvSpPr>
          <p:cNvPr id="4" name="TextBox 4"/>
          <p:cNvSpPr txBox="1"/>
          <p:nvPr/>
        </p:nvSpPr>
        <p:spPr>
          <a:xfrm>
            <a:off x="16557135" y="8675370"/>
            <a:ext cx="702165" cy="582930"/>
          </a:xfrm>
          <a:prstGeom prst="rect">
            <a:avLst/>
          </a:prstGeom>
        </p:spPr>
        <p:txBody>
          <a:bodyPr lIns="0" tIns="0" rIns="0" bIns="0" rtlCol="0" anchor="t">
            <a:spAutoFit/>
          </a:bodyPr>
          <a:lstStyle/>
          <a:p>
            <a:pPr algn="r">
              <a:lnSpc>
                <a:spcPts val="4559"/>
              </a:lnSpc>
            </a:pPr>
            <a:r>
              <a:rPr lang="en-US" sz="3999">
                <a:solidFill>
                  <a:srgbClr val="FFFFFF"/>
                </a:solidFill>
                <a:latin typeface="Courier Prime"/>
                <a:ea typeface="Courier Prime"/>
                <a:cs typeface="Courier Prime"/>
                <a:sym typeface="Courier Prime"/>
              </a:rPr>
              <a:t>}</a:t>
            </a:r>
          </a:p>
        </p:txBody>
      </p:sp>
    </p:spTree>
  </p:cSld>
  <p:clrMapOvr>
    <a:masterClrMapping/>
  </p:clrMapOvr>
  <p:transition spd="slow">
    <p:push dir="u"/>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20232A"/>
        </a:solidFill>
        <a:effectLst/>
      </p:bgPr>
    </p:bg>
    <p:spTree>
      <p:nvGrpSpPr>
        <p:cNvPr id="1" name=""/>
        <p:cNvGrpSpPr/>
        <p:nvPr/>
      </p:nvGrpSpPr>
      <p:grpSpPr>
        <a:xfrm>
          <a:off x="0" y="0"/>
          <a:ext cx="0" cy="0"/>
          <a:chOff x="0" y="0"/>
          <a:chExt cx="0" cy="0"/>
        </a:xfrm>
      </p:grpSpPr>
      <p:sp>
        <p:nvSpPr>
          <p:cNvPr id="2" name="TextBox 2"/>
          <p:cNvSpPr txBox="1"/>
          <p:nvPr/>
        </p:nvSpPr>
        <p:spPr>
          <a:xfrm>
            <a:off x="1028700" y="1047750"/>
            <a:ext cx="16230600" cy="4719241"/>
          </a:xfrm>
          <a:prstGeom prst="rect">
            <a:avLst/>
          </a:prstGeom>
        </p:spPr>
        <p:txBody>
          <a:bodyPr wrap="square" lIns="0" tIns="0" rIns="0" bIns="0" rtlCol="0" anchor="t">
            <a:spAutoFit/>
          </a:bodyPr>
          <a:lstStyle/>
          <a:p>
            <a:pPr algn="l">
              <a:lnSpc>
                <a:spcPts val="4559"/>
              </a:lnSpc>
            </a:pPr>
            <a:r>
              <a:rPr lang="en-US" sz="3999" dirty="0">
                <a:solidFill>
                  <a:srgbClr val="FFFFFF"/>
                </a:solidFill>
                <a:latin typeface="Courier Prime"/>
                <a:ea typeface="Courier Prime"/>
                <a:cs typeface="Courier Prime"/>
                <a:sym typeface="Courier Prime"/>
              </a:rPr>
              <a:t>URL al </a:t>
            </a:r>
            <a:r>
              <a:rPr lang="en-US" sz="3999" dirty="0" err="1">
                <a:solidFill>
                  <a:srgbClr val="FFFFFF"/>
                </a:solidFill>
                <a:latin typeface="Courier Prime"/>
                <a:ea typeface="Courier Prime"/>
                <a:cs typeface="Courier Prime"/>
                <a:sym typeface="Courier Prime"/>
              </a:rPr>
              <a:t>Repositorio</a:t>
            </a:r>
            <a:r>
              <a:rPr lang="en-US" sz="3999" dirty="0">
                <a:solidFill>
                  <a:srgbClr val="FFFFFF"/>
                </a:solidFill>
                <a:latin typeface="Courier Prime"/>
                <a:ea typeface="Courier Prime"/>
                <a:cs typeface="Courier Prime"/>
                <a:sym typeface="Courier Prime"/>
              </a:rPr>
              <a:t> {</a:t>
            </a:r>
          </a:p>
          <a:p>
            <a:pPr algn="l">
              <a:lnSpc>
                <a:spcPts val="4559"/>
              </a:lnSpc>
            </a:pPr>
            <a:endParaRPr lang="en-US" sz="3999" dirty="0">
              <a:solidFill>
                <a:srgbClr val="FFFFFF"/>
              </a:solidFill>
              <a:latin typeface="Courier Prime"/>
              <a:ea typeface="Courier Prime"/>
              <a:cs typeface="Courier Prime"/>
              <a:sym typeface="Courier Prime"/>
            </a:endParaRPr>
          </a:p>
          <a:p>
            <a:pPr algn="l">
              <a:lnSpc>
                <a:spcPts val="4559"/>
              </a:lnSpc>
            </a:pPr>
            <a:endParaRPr lang="en-US" sz="3999" dirty="0">
              <a:solidFill>
                <a:srgbClr val="FFFFFF"/>
              </a:solidFill>
              <a:latin typeface="Courier Prime"/>
              <a:ea typeface="Courier Prime"/>
              <a:cs typeface="Courier Prime"/>
              <a:sym typeface="Courier Prime"/>
            </a:endParaRPr>
          </a:p>
          <a:p>
            <a:pPr algn="l">
              <a:lnSpc>
                <a:spcPts val="4559"/>
              </a:lnSpc>
            </a:pPr>
            <a:endParaRPr lang="en-US" sz="3999" dirty="0">
              <a:solidFill>
                <a:srgbClr val="FFFFFF"/>
              </a:solidFill>
              <a:latin typeface="Courier Prime"/>
              <a:ea typeface="Courier Prime"/>
              <a:cs typeface="Courier Prime"/>
              <a:sym typeface="Courier Prime"/>
            </a:endParaRPr>
          </a:p>
          <a:p>
            <a:pPr algn="ctr">
              <a:lnSpc>
                <a:spcPts val="4559"/>
              </a:lnSpc>
            </a:pPr>
            <a:endParaRPr lang="en-US" sz="3999" dirty="0">
              <a:solidFill>
                <a:srgbClr val="FFFFFF"/>
              </a:solidFill>
              <a:highlight>
                <a:srgbClr val="000000"/>
              </a:highlight>
              <a:latin typeface="Courier Prime"/>
              <a:ea typeface="Courier Prime"/>
              <a:cs typeface="Courier Prime"/>
              <a:sym typeface="Courier Prime"/>
            </a:endParaRPr>
          </a:p>
          <a:p>
            <a:pPr algn="ctr">
              <a:lnSpc>
                <a:spcPts val="4559"/>
              </a:lnSpc>
            </a:pPr>
            <a:endParaRPr lang="en-US" sz="3999" dirty="0">
              <a:solidFill>
                <a:srgbClr val="FFFFFF"/>
              </a:solidFill>
              <a:highlight>
                <a:srgbClr val="000000"/>
              </a:highlight>
              <a:latin typeface="Courier Prime"/>
              <a:ea typeface="Courier Prime"/>
              <a:cs typeface="Courier Prime"/>
              <a:sym typeface="Courier Prime"/>
            </a:endParaRPr>
          </a:p>
          <a:p>
            <a:pPr algn="ctr">
              <a:lnSpc>
                <a:spcPts val="4559"/>
              </a:lnSpc>
            </a:pPr>
            <a:endParaRPr lang="en-US" sz="3600" dirty="0">
              <a:solidFill>
                <a:srgbClr val="FFFFFF"/>
              </a:solidFill>
              <a:highlight>
                <a:srgbClr val="000000"/>
              </a:highlight>
              <a:latin typeface="Courier Prime"/>
              <a:ea typeface="Courier Prime"/>
              <a:cs typeface="Courier Prime"/>
              <a:sym typeface="Courier Prime"/>
            </a:endParaRPr>
          </a:p>
          <a:p>
            <a:pPr algn="ctr">
              <a:lnSpc>
                <a:spcPts val="4559"/>
              </a:lnSpc>
            </a:pPr>
            <a:r>
              <a:rPr lang="en-US" sz="3600" dirty="0">
                <a:solidFill>
                  <a:srgbClr val="FFFFFF"/>
                </a:solidFill>
                <a:highlight>
                  <a:srgbClr val="000000"/>
                </a:highlight>
                <a:latin typeface="Courier Prime"/>
                <a:ea typeface="Courier Prime"/>
                <a:cs typeface="Courier Prime"/>
                <a:sym typeface="Courier Prime"/>
              </a:rPr>
              <a:t>https://github.com/16marleni/ds4/tree/proyectos/Proyecto2</a:t>
            </a:r>
          </a:p>
        </p:txBody>
      </p:sp>
      <p:sp>
        <p:nvSpPr>
          <p:cNvPr id="3" name="TextBox 3"/>
          <p:cNvSpPr txBox="1"/>
          <p:nvPr/>
        </p:nvSpPr>
        <p:spPr>
          <a:xfrm>
            <a:off x="16557135" y="8675370"/>
            <a:ext cx="702165" cy="582930"/>
          </a:xfrm>
          <a:prstGeom prst="rect">
            <a:avLst/>
          </a:prstGeom>
        </p:spPr>
        <p:txBody>
          <a:bodyPr lIns="0" tIns="0" rIns="0" bIns="0" rtlCol="0" anchor="t">
            <a:spAutoFit/>
          </a:bodyPr>
          <a:lstStyle/>
          <a:p>
            <a:pPr algn="r">
              <a:lnSpc>
                <a:spcPts val="4559"/>
              </a:lnSpc>
            </a:pPr>
            <a:r>
              <a:rPr lang="en-US" sz="3999">
                <a:solidFill>
                  <a:srgbClr val="FFFFFF"/>
                </a:solidFill>
                <a:latin typeface="Courier Prime"/>
                <a:ea typeface="Courier Prime"/>
                <a:cs typeface="Courier Prime"/>
                <a:sym typeface="Courier Prime"/>
              </a:rPr>
              <a:t>}</a:t>
            </a:r>
          </a:p>
        </p:txBody>
      </p:sp>
    </p:spTree>
  </p:cSld>
  <p:clrMapOvr>
    <a:masterClrMapping/>
  </p:clrMapOvr>
  <p:transition spd="slow">
    <p:push dir="u"/>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20232A"/>
        </a:solidFill>
        <a:effectLst/>
      </p:bgPr>
    </p:bg>
    <p:spTree>
      <p:nvGrpSpPr>
        <p:cNvPr id="1" name=""/>
        <p:cNvGrpSpPr/>
        <p:nvPr/>
      </p:nvGrpSpPr>
      <p:grpSpPr>
        <a:xfrm>
          <a:off x="0" y="0"/>
          <a:ext cx="0" cy="0"/>
          <a:chOff x="0" y="0"/>
          <a:chExt cx="0" cy="0"/>
        </a:xfrm>
      </p:grpSpPr>
      <p:sp>
        <p:nvSpPr>
          <p:cNvPr id="2" name="AutoShape 2"/>
          <p:cNvSpPr/>
          <p:nvPr/>
        </p:nvSpPr>
        <p:spPr>
          <a:xfrm rot="5400000">
            <a:off x="5951747" y="4385494"/>
            <a:ext cx="9650362" cy="0"/>
          </a:xfrm>
          <a:prstGeom prst="line">
            <a:avLst/>
          </a:prstGeom>
          <a:ln w="95250" cap="flat">
            <a:solidFill>
              <a:srgbClr val="2D2D35"/>
            </a:solidFill>
            <a:prstDash val="solid"/>
            <a:headEnd type="none" w="sm" len="sm"/>
            <a:tailEnd type="none" w="sm" len="sm"/>
          </a:ln>
        </p:spPr>
        <p:txBody>
          <a:bodyPr/>
          <a:lstStyle/>
          <a:p>
            <a:endParaRPr lang="es-PA"/>
          </a:p>
        </p:txBody>
      </p:sp>
      <p:sp>
        <p:nvSpPr>
          <p:cNvPr id="3" name="Freeform 3"/>
          <p:cNvSpPr/>
          <p:nvPr/>
        </p:nvSpPr>
        <p:spPr>
          <a:xfrm>
            <a:off x="11259796" y="3146750"/>
            <a:ext cx="6491167" cy="3422615"/>
          </a:xfrm>
          <a:custGeom>
            <a:avLst/>
            <a:gdLst/>
            <a:ahLst/>
            <a:cxnLst/>
            <a:rect l="l" t="t" r="r" b="b"/>
            <a:pathLst>
              <a:path w="6491167" h="3422615">
                <a:moveTo>
                  <a:pt x="0" y="0"/>
                </a:moveTo>
                <a:lnTo>
                  <a:pt x="6491167" y="0"/>
                </a:lnTo>
                <a:lnTo>
                  <a:pt x="6491167" y="3422615"/>
                </a:lnTo>
                <a:lnTo>
                  <a:pt x="0" y="3422615"/>
                </a:lnTo>
                <a:lnTo>
                  <a:pt x="0" y="0"/>
                </a:lnTo>
                <a:close/>
              </a:path>
            </a:pathLst>
          </a:custGeom>
          <a:blipFill>
            <a:blip r:embed="rId2"/>
            <a:stretch>
              <a:fillRect/>
            </a:stretch>
          </a:blipFill>
        </p:spPr>
        <p:txBody>
          <a:bodyPr/>
          <a:lstStyle/>
          <a:p>
            <a:endParaRPr lang="es-PA"/>
          </a:p>
        </p:txBody>
      </p:sp>
      <p:sp>
        <p:nvSpPr>
          <p:cNvPr id="4" name="TextBox 4"/>
          <p:cNvSpPr txBox="1"/>
          <p:nvPr/>
        </p:nvSpPr>
        <p:spPr>
          <a:xfrm>
            <a:off x="1028700" y="1047750"/>
            <a:ext cx="7031406" cy="582930"/>
          </a:xfrm>
          <a:prstGeom prst="rect">
            <a:avLst/>
          </a:prstGeom>
        </p:spPr>
        <p:txBody>
          <a:bodyPr lIns="0" tIns="0" rIns="0" bIns="0" rtlCol="0" anchor="t">
            <a:spAutoFit/>
          </a:bodyPr>
          <a:lstStyle/>
          <a:p>
            <a:pPr algn="l">
              <a:lnSpc>
                <a:spcPts val="4559"/>
              </a:lnSpc>
            </a:pPr>
            <a:r>
              <a:rPr lang="en-US" sz="3999">
                <a:solidFill>
                  <a:srgbClr val="FFFFFF"/>
                </a:solidFill>
                <a:latin typeface="Courier Prime"/>
                <a:ea typeface="Courier Prime"/>
                <a:cs typeface="Courier Prime"/>
                <a:sym typeface="Courier Prime"/>
              </a:rPr>
              <a:t>Conclusión {</a:t>
            </a:r>
          </a:p>
        </p:txBody>
      </p:sp>
      <p:sp>
        <p:nvSpPr>
          <p:cNvPr id="5" name="TextBox 5"/>
          <p:cNvSpPr txBox="1"/>
          <p:nvPr/>
        </p:nvSpPr>
        <p:spPr>
          <a:xfrm>
            <a:off x="16557135" y="8675370"/>
            <a:ext cx="702165" cy="582930"/>
          </a:xfrm>
          <a:prstGeom prst="rect">
            <a:avLst/>
          </a:prstGeom>
        </p:spPr>
        <p:txBody>
          <a:bodyPr lIns="0" tIns="0" rIns="0" bIns="0" rtlCol="0" anchor="t">
            <a:spAutoFit/>
          </a:bodyPr>
          <a:lstStyle/>
          <a:p>
            <a:pPr algn="r">
              <a:lnSpc>
                <a:spcPts val="4559"/>
              </a:lnSpc>
            </a:pPr>
            <a:r>
              <a:rPr lang="en-US" sz="3999">
                <a:solidFill>
                  <a:srgbClr val="FFFFFF"/>
                </a:solidFill>
                <a:latin typeface="Courier Prime"/>
                <a:ea typeface="Courier Prime"/>
                <a:cs typeface="Courier Prime"/>
                <a:sym typeface="Courier Prime"/>
              </a:rPr>
              <a:t>}</a:t>
            </a:r>
          </a:p>
        </p:txBody>
      </p:sp>
      <p:sp>
        <p:nvSpPr>
          <p:cNvPr id="6" name="TextBox 6"/>
          <p:cNvSpPr txBox="1"/>
          <p:nvPr/>
        </p:nvSpPr>
        <p:spPr>
          <a:xfrm>
            <a:off x="1028700" y="2971334"/>
            <a:ext cx="8697875" cy="4094607"/>
          </a:xfrm>
          <a:prstGeom prst="rect">
            <a:avLst/>
          </a:prstGeom>
        </p:spPr>
        <p:txBody>
          <a:bodyPr lIns="0" tIns="0" rIns="0" bIns="0" rtlCol="0" anchor="t">
            <a:spAutoFit/>
          </a:bodyPr>
          <a:lstStyle/>
          <a:p>
            <a:pPr algn="just">
              <a:lnSpc>
                <a:spcPts val="3264"/>
              </a:lnSpc>
            </a:pPr>
            <a:r>
              <a:rPr lang="en-US" sz="2400">
                <a:solidFill>
                  <a:srgbClr val="FFFFFF"/>
                </a:solidFill>
                <a:latin typeface="Courier Prime"/>
                <a:ea typeface="Courier Prime"/>
                <a:cs typeface="Courier Prime"/>
                <a:sym typeface="Courier Prime"/>
              </a:rPr>
              <a:t>Este proyecto permitió comprender de forma práctica el funcionamiento de una arquitectura basada en servicios, donde una Web API actúa como proveedor de datos y una aplicación WebForms funciona como cliente consumidor. Se logró implementar una solución completa que incluye conexión a base de datos, filtrado de información, manejo de respuestas en formato JSON y presentación de resultados en la interfaz.</a:t>
            </a:r>
          </a:p>
        </p:txBody>
      </p:sp>
    </p:spTree>
  </p:cSld>
  <p:clrMapOvr>
    <a:masterClrMapping/>
  </p:clrMapOvr>
  <p:transition spd="slow">
    <p:push dir="u"/>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20232A"/>
        </a:solidFill>
        <a:effectLst/>
      </p:bgPr>
    </p:bg>
    <p:spTree>
      <p:nvGrpSpPr>
        <p:cNvPr id="1" name=""/>
        <p:cNvGrpSpPr/>
        <p:nvPr/>
      </p:nvGrpSpPr>
      <p:grpSpPr>
        <a:xfrm>
          <a:off x="0" y="0"/>
          <a:ext cx="0" cy="0"/>
          <a:chOff x="0" y="0"/>
          <a:chExt cx="0" cy="0"/>
        </a:xfrm>
      </p:grpSpPr>
      <p:sp>
        <p:nvSpPr>
          <p:cNvPr id="2" name="AutoShape 2"/>
          <p:cNvSpPr/>
          <p:nvPr/>
        </p:nvSpPr>
        <p:spPr>
          <a:xfrm rot="5400000">
            <a:off x="-2839732" y="3931089"/>
            <a:ext cx="8741551" cy="0"/>
          </a:xfrm>
          <a:prstGeom prst="line">
            <a:avLst/>
          </a:prstGeom>
          <a:ln w="95250" cap="flat">
            <a:solidFill>
              <a:srgbClr val="2D2D35"/>
            </a:solidFill>
            <a:prstDash val="solid"/>
            <a:headEnd type="none" w="sm" len="sm"/>
            <a:tailEnd type="none" w="sm" len="sm"/>
          </a:ln>
        </p:spPr>
        <p:txBody>
          <a:bodyPr/>
          <a:lstStyle/>
          <a:p>
            <a:endParaRPr lang="es-PA"/>
          </a:p>
        </p:txBody>
      </p:sp>
      <p:sp>
        <p:nvSpPr>
          <p:cNvPr id="3" name="TextBox 3"/>
          <p:cNvSpPr txBox="1"/>
          <p:nvPr/>
        </p:nvSpPr>
        <p:spPr>
          <a:xfrm>
            <a:off x="2537186" y="3245316"/>
            <a:ext cx="10718760" cy="1324177"/>
          </a:xfrm>
          <a:prstGeom prst="rect">
            <a:avLst/>
          </a:prstGeom>
        </p:spPr>
        <p:txBody>
          <a:bodyPr lIns="0" tIns="0" rIns="0" bIns="0" rtlCol="0" anchor="t">
            <a:spAutoFit/>
          </a:bodyPr>
          <a:lstStyle/>
          <a:p>
            <a:pPr algn="l">
              <a:lnSpc>
                <a:spcPts val="10397"/>
              </a:lnSpc>
            </a:pPr>
            <a:r>
              <a:rPr lang="en-US" sz="9120">
                <a:solidFill>
                  <a:srgbClr val="FFFFFF"/>
                </a:solidFill>
                <a:latin typeface="Courier Prime"/>
                <a:ea typeface="Courier Prime"/>
                <a:cs typeface="Courier Prime"/>
                <a:sym typeface="Courier Prime"/>
              </a:rPr>
              <a:t>Gracias {</a:t>
            </a:r>
          </a:p>
        </p:txBody>
      </p:sp>
      <p:sp>
        <p:nvSpPr>
          <p:cNvPr id="4" name="TextBox 4"/>
          <p:cNvSpPr txBox="1"/>
          <p:nvPr/>
        </p:nvSpPr>
        <p:spPr>
          <a:xfrm>
            <a:off x="2415791" y="6536903"/>
            <a:ext cx="2471972" cy="1607392"/>
          </a:xfrm>
          <a:prstGeom prst="rect">
            <a:avLst/>
          </a:prstGeom>
        </p:spPr>
        <p:txBody>
          <a:bodyPr lIns="0" tIns="0" rIns="0" bIns="0" rtlCol="0" anchor="t">
            <a:spAutoFit/>
          </a:bodyPr>
          <a:lstStyle/>
          <a:p>
            <a:pPr algn="l">
              <a:lnSpc>
                <a:spcPts val="12477"/>
              </a:lnSpc>
            </a:pPr>
            <a:r>
              <a:rPr lang="en-US" sz="10944">
                <a:solidFill>
                  <a:srgbClr val="FFFFFF"/>
                </a:solidFill>
                <a:latin typeface="Courier Prime"/>
                <a:ea typeface="Courier Prime"/>
                <a:cs typeface="Courier Prime"/>
                <a:sym typeface="Courier Prime"/>
              </a:rPr>
              <a:t>}</a:t>
            </a:r>
          </a:p>
        </p:txBody>
      </p:sp>
    </p:spTree>
  </p:cSld>
  <p:clrMapOvr>
    <a:masterClrMapping/>
  </p:clrMapOvr>
  <p:transition spd="slow">
    <p:push dir="u"/>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TotalTime>
  <Words>451</Words>
  <Application>Microsoft Office PowerPoint</Application>
  <PresentationFormat>Personalizado</PresentationFormat>
  <Paragraphs>62</Paragraphs>
  <Slides>22</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22</vt:i4>
      </vt:variant>
    </vt:vector>
  </HeadingPairs>
  <TitlesOfParts>
    <vt:vector size="26" baseType="lpstr">
      <vt:lpstr>Courier Prime</vt:lpstr>
      <vt:lpstr>Calibri</vt:lpstr>
      <vt:lpstr>Arial</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Proyecto2 - WEB API CALCULADORA</dc:title>
  <cp:lastModifiedBy>Marleni Barría</cp:lastModifiedBy>
  <cp:revision>4</cp:revision>
  <dcterms:created xsi:type="dcterms:W3CDTF">2006-08-16T00:00:00Z</dcterms:created>
  <dcterms:modified xsi:type="dcterms:W3CDTF">2025-11-27T02:44:02Z</dcterms:modified>
  <dc:identifier>DAG516UDV9U</dc:identifier>
</cp:coreProperties>
</file>