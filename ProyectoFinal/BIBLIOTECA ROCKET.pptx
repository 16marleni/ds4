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8288000" cy="10287000"/>
  <p:notesSz cx="6858000" cy="9144000"/>
  <p:embeddedFontLst>
    <p:embeddedFont>
      <p:font typeface="Handyman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44" b="-9444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3" name="Freeform 3"/>
          <p:cNvSpPr/>
          <p:nvPr/>
        </p:nvSpPr>
        <p:spPr>
          <a:xfrm>
            <a:off x="820882" y="3134410"/>
            <a:ext cx="16646235" cy="4018180"/>
          </a:xfrm>
          <a:custGeom>
            <a:avLst/>
            <a:gdLst/>
            <a:ahLst/>
            <a:cxnLst/>
            <a:rect l="l" t="t" r="r" b="b"/>
            <a:pathLst>
              <a:path w="16646235" h="4018180">
                <a:moveTo>
                  <a:pt x="0" y="0"/>
                </a:moveTo>
                <a:lnTo>
                  <a:pt x="16646236" y="0"/>
                </a:lnTo>
                <a:lnTo>
                  <a:pt x="16646236" y="4018180"/>
                </a:lnTo>
                <a:lnTo>
                  <a:pt x="0" y="40181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4" name="Freeform 4"/>
          <p:cNvSpPr/>
          <p:nvPr/>
        </p:nvSpPr>
        <p:spPr>
          <a:xfrm rot="2700000">
            <a:off x="1663319" y="6705939"/>
            <a:ext cx="2084366" cy="2126904"/>
          </a:xfrm>
          <a:custGeom>
            <a:avLst/>
            <a:gdLst/>
            <a:ahLst/>
            <a:cxnLst/>
            <a:rect l="l" t="t" r="r" b="b"/>
            <a:pathLst>
              <a:path w="2084366" h="2126904">
                <a:moveTo>
                  <a:pt x="0" y="0"/>
                </a:moveTo>
                <a:lnTo>
                  <a:pt x="2084366" y="0"/>
                </a:lnTo>
                <a:lnTo>
                  <a:pt x="2084366" y="2126904"/>
                </a:lnTo>
                <a:lnTo>
                  <a:pt x="0" y="2126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5" name="Freeform 5"/>
          <p:cNvSpPr/>
          <p:nvPr/>
        </p:nvSpPr>
        <p:spPr>
          <a:xfrm>
            <a:off x="367067" y="29810"/>
            <a:ext cx="1699054" cy="1699054"/>
          </a:xfrm>
          <a:custGeom>
            <a:avLst/>
            <a:gdLst/>
            <a:ahLst/>
            <a:cxnLst/>
            <a:rect l="l" t="t" r="r" b="b"/>
            <a:pathLst>
              <a:path w="1699054" h="1699054">
                <a:moveTo>
                  <a:pt x="0" y="0"/>
                </a:moveTo>
                <a:lnTo>
                  <a:pt x="1699054" y="0"/>
                </a:lnTo>
                <a:lnTo>
                  <a:pt x="1699054" y="1699054"/>
                </a:lnTo>
                <a:lnTo>
                  <a:pt x="0" y="16990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6" name="Freeform 6"/>
          <p:cNvSpPr/>
          <p:nvPr/>
        </p:nvSpPr>
        <p:spPr>
          <a:xfrm>
            <a:off x="2185205" y="29810"/>
            <a:ext cx="1669244" cy="1669244"/>
          </a:xfrm>
          <a:custGeom>
            <a:avLst/>
            <a:gdLst/>
            <a:ahLst/>
            <a:cxnLst/>
            <a:rect l="l" t="t" r="r" b="b"/>
            <a:pathLst>
              <a:path w="1669244" h="1669244">
                <a:moveTo>
                  <a:pt x="0" y="0"/>
                </a:moveTo>
                <a:lnTo>
                  <a:pt x="1669244" y="0"/>
                </a:lnTo>
                <a:lnTo>
                  <a:pt x="1669244" y="1669244"/>
                </a:lnTo>
                <a:lnTo>
                  <a:pt x="0" y="16692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7" name="Freeform 7"/>
          <p:cNvSpPr/>
          <p:nvPr/>
        </p:nvSpPr>
        <p:spPr>
          <a:xfrm>
            <a:off x="3624490" y="-2602640"/>
            <a:ext cx="14983190" cy="4331504"/>
          </a:xfrm>
          <a:custGeom>
            <a:avLst/>
            <a:gdLst/>
            <a:ahLst/>
            <a:cxnLst/>
            <a:rect l="l" t="t" r="r" b="b"/>
            <a:pathLst>
              <a:path w="14983190" h="4331504">
                <a:moveTo>
                  <a:pt x="0" y="0"/>
                </a:moveTo>
                <a:lnTo>
                  <a:pt x="14983189" y="0"/>
                </a:lnTo>
                <a:lnTo>
                  <a:pt x="14983189" y="4331504"/>
                </a:lnTo>
                <a:lnTo>
                  <a:pt x="0" y="4331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8" name="TextBox 8"/>
          <p:cNvSpPr txBox="1"/>
          <p:nvPr/>
        </p:nvSpPr>
        <p:spPr>
          <a:xfrm>
            <a:off x="1716452" y="2856378"/>
            <a:ext cx="14855095" cy="2287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38"/>
              </a:lnSpc>
            </a:pPr>
            <a:r>
              <a:rPr lang="en-US" sz="11955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BIBLIOTECA ROCKET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6452" y="4740789"/>
            <a:ext cx="14855095" cy="119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0"/>
              </a:lnSpc>
            </a:pPr>
            <a:r>
              <a:rPr lang="en-US" sz="6235">
                <a:solidFill>
                  <a:srgbClr val="1799AC"/>
                </a:solidFill>
                <a:latin typeface="Handyman"/>
                <a:ea typeface="Handyman"/>
                <a:cs typeface="Handyman"/>
                <a:sym typeface="Handyman"/>
              </a:rPr>
              <a:t>Proyecto Final - Desarrollo de Software IV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6452" y="5766590"/>
            <a:ext cx="14855095" cy="85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0"/>
              </a:lnSpc>
            </a:pPr>
            <a:r>
              <a:rPr lang="en-US" sz="4536">
                <a:solidFill>
                  <a:srgbClr val="084615"/>
                </a:solidFill>
                <a:latin typeface="Handyman"/>
                <a:ea typeface="Handyman"/>
                <a:cs typeface="Handyman"/>
                <a:sym typeface="Handyman"/>
              </a:rPr>
              <a:t>Por: Marleni Barría (8-977-1987)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76977" y="77749"/>
            <a:ext cx="16078214" cy="950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</a:pPr>
            <a:r>
              <a:rPr lang="en-US" sz="4935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Licenciatura en Desarrollo y Gestión de Software</a:t>
            </a:r>
          </a:p>
        </p:txBody>
      </p:sp>
      <p:sp>
        <p:nvSpPr>
          <p:cNvPr id="12" name="Freeform 12"/>
          <p:cNvSpPr/>
          <p:nvPr/>
        </p:nvSpPr>
        <p:spPr>
          <a:xfrm>
            <a:off x="-537935" y="9258300"/>
            <a:ext cx="11017426" cy="3185038"/>
          </a:xfrm>
          <a:custGeom>
            <a:avLst/>
            <a:gdLst/>
            <a:ahLst/>
            <a:cxnLst/>
            <a:rect l="l" t="t" r="r" b="b"/>
            <a:pathLst>
              <a:path w="11017426" h="3185038">
                <a:moveTo>
                  <a:pt x="0" y="0"/>
                </a:moveTo>
                <a:lnTo>
                  <a:pt x="11017426" y="0"/>
                </a:lnTo>
                <a:lnTo>
                  <a:pt x="11017426" y="3185038"/>
                </a:lnTo>
                <a:lnTo>
                  <a:pt x="0" y="31850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3" name="TextBox 13"/>
          <p:cNvSpPr txBox="1"/>
          <p:nvPr/>
        </p:nvSpPr>
        <p:spPr>
          <a:xfrm>
            <a:off x="-3268354" y="9267825"/>
            <a:ext cx="16078214" cy="8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436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Prof. Regis Rivera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44" b="-9444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3" name="Freeform 3"/>
          <p:cNvSpPr/>
          <p:nvPr/>
        </p:nvSpPr>
        <p:spPr>
          <a:xfrm>
            <a:off x="-1271941" y="8110095"/>
            <a:ext cx="3719506" cy="3719506"/>
          </a:xfrm>
          <a:custGeom>
            <a:avLst/>
            <a:gdLst/>
            <a:ahLst/>
            <a:cxnLst/>
            <a:rect l="l" t="t" r="r" b="b"/>
            <a:pathLst>
              <a:path w="3719506" h="3719506">
                <a:moveTo>
                  <a:pt x="0" y="0"/>
                </a:moveTo>
                <a:lnTo>
                  <a:pt x="3719506" y="0"/>
                </a:lnTo>
                <a:lnTo>
                  <a:pt x="3719506" y="3719506"/>
                </a:lnTo>
                <a:lnTo>
                  <a:pt x="0" y="3719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4" name="Freeform 4"/>
          <p:cNvSpPr/>
          <p:nvPr/>
        </p:nvSpPr>
        <p:spPr>
          <a:xfrm>
            <a:off x="1882785" y="2265448"/>
            <a:ext cx="14320130" cy="6126801"/>
          </a:xfrm>
          <a:custGeom>
            <a:avLst/>
            <a:gdLst/>
            <a:ahLst/>
            <a:cxnLst/>
            <a:rect l="l" t="t" r="r" b="b"/>
            <a:pathLst>
              <a:path w="14320130" h="6126801">
                <a:moveTo>
                  <a:pt x="0" y="0"/>
                </a:moveTo>
                <a:lnTo>
                  <a:pt x="14320129" y="0"/>
                </a:lnTo>
                <a:lnTo>
                  <a:pt x="14320129" y="6126801"/>
                </a:lnTo>
                <a:lnTo>
                  <a:pt x="0" y="6126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775" b="-24821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5" name="TextBox 5"/>
          <p:cNvSpPr txBox="1"/>
          <p:nvPr/>
        </p:nvSpPr>
        <p:spPr>
          <a:xfrm>
            <a:off x="1028700" y="584616"/>
            <a:ext cx="16132482" cy="110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Diagrama de Arquitectura de Alto Nivel </a:t>
            </a:r>
            <a:r>
              <a:rPr lang="en-US" sz="5799">
                <a:solidFill>
                  <a:srgbClr val="1799AC"/>
                </a:solidFill>
                <a:latin typeface="Handyman"/>
                <a:ea typeface="Handyman"/>
                <a:cs typeface="Handyman"/>
                <a:sym typeface="Handyman"/>
              </a:rPr>
              <a:t>(Original)</a:t>
            </a:r>
          </a:p>
        </p:txBody>
      </p:sp>
      <p:sp>
        <p:nvSpPr>
          <p:cNvPr id="6" name="Freeform 6"/>
          <p:cNvSpPr/>
          <p:nvPr/>
        </p:nvSpPr>
        <p:spPr>
          <a:xfrm>
            <a:off x="15629490" y="7792068"/>
            <a:ext cx="3063382" cy="3380284"/>
          </a:xfrm>
          <a:custGeom>
            <a:avLst/>
            <a:gdLst/>
            <a:ahLst/>
            <a:cxnLst/>
            <a:rect l="l" t="t" r="r" b="b"/>
            <a:pathLst>
              <a:path w="3063382" h="3380284">
                <a:moveTo>
                  <a:pt x="0" y="0"/>
                </a:moveTo>
                <a:lnTo>
                  <a:pt x="3063383" y="0"/>
                </a:lnTo>
                <a:lnTo>
                  <a:pt x="3063383" y="3380284"/>
                </a:lnTo>
                <a:lnTo>
                  <a:pt x="0" y="3380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44" b="-9444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3" name="Freeform 3"/>
          <p:cNvSpPr/>
          <p:nvPr/>
        </p:nvSpPr>
        <p:spPr>
          <a:xfrm>
            <a:off x="-1761830" y="8235486"/>
            <a:ext cx="3719506" cy="3719506"/>
          </a:xfrm>
          <a:custGeom>
            <a:avLst/>
            <a:gdLst/>
            <a:ahLst/>
            <a:cxnLst/>
            <a:rect l="l" t="t" r="r" b="b"/>
            <a:pathLst>
              <a:path w="3719506" h="3719506">
                <a:moveTo>
                  <a:pt x="0" y="0"/>
                </a:moveTo>
                <a:lnTo>
                  <a:pt x="3719506" y="0"/>
                </a:lnTo>
                <a:lnTo>
                  <a:pt x="3719506" y="3719506"/>
                </a:lnTo>
                <a:lnTo>
                  <a:pt x="0" y="3719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4" name="Freeform 4"/>
          <p:cNvSpPr/>
          <p:nvPr/>
        </p:nvSpPr>
        <p:spPr>
          <a:xfrm>
            <a:off x="1957676" y="2054629"/>
            <a:ext cx="14274529" cy="6548440"/>
          </a:xfrm>
          <a:custGeom>
            <a:avLst/>
            <a:gdLst/>
            <a:ahLst/>
            <a:cxnLst/>
            <a:rect l="l" t="t" r="r" b="b"/>
            <a:pathLst>
              <a:path w="14274529" h="6548440">
                <a:moveTo>
                  <a:pt x="0" y="0"/>
                </a:moveTo>
                <a:lnTo>
                  <a:pt x="14274529" y="0"/>
                </a:lnTo>
                <a:lnTo>
                  <a:pt x="14274529" y="6548440"/>
                </a:lnTo>
                <a:lnTo>
                  <a:pt x="0" y="6548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5" name="TextBox 5"/>
          <p:cNvSpPr txBox="1"/>
          <p:nvPr/>
        </p:nvSpPr>
        <p:spPr>
          <a:xfrm>
            <a:off x="1028700" y="584616"/>
            <a:ext cx="16132482" cy="110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Diagrama de Arquitectura de Alto Nivel</a:t>
            </a:r>
            <a:r>
              <a:rPr lang="en-US" sz="5799">
                <a:solidFill>
                  <a:srgbClr val="0933A6"/>
                </a:solidFill>
                <a:latin typeface="Handyman"/>
                <a:ea typeface="Handyman"/>
                <a:cs typeface="Handyman"/>
                <a:sym typeface="Handyman"/>
              </a:rPr>
              <a:t> </a:t>
            </a:r>
            <a:r>
              <a:rPr lang="en-US" sz="5799">
                <a:solidFill>
                  <a:srgbClr val="FFBD59"/>
                </a:solidFill>
                <a:latin typeface="Handyman"/>
                <a:ea typeface="Handyman"/>
                <a:cs typeface="Handyman"/>
                <a:sym typeface="Handyman"/>
              </a:rPr>
              <a:t>(Final)</a:t>
            </a:r>
          </a:p>
        </p:txBody>
      </p:sp>
      <p:sp>
        <p:nvSpPr>
          <p:cNvPr id="6" name="Freeform 6"/>
          <p:cNvSpPr/>
          <p:nvPr/>
        </p:nvSpPr>
        <p:spPr>
          <a:xfrm>
            <a:off x="16409461" y="3469095"/>
            <a:ext cx="3757077" cy="3719506"/>
          </a:xfrm>
          <a:custGeom>
            <a:avLst/>
            <a:gdLst/>
            <a:ahLst/>
            <a:cxnLst/>
            <a:rect l="l" t="t" r="r" b="b"/>
            <a:pathLst>
              <a:path w="3757077" h="3719506">
                <a:moveTo>
                  <a:pt x="0" y="0"/>
                </a:moveTo>
                <a:lnTo>
                  <a:pt x="3757078" y="0"/>
                </a:lnTo>
                <a:lnTo>
                  <a:pt x="3757078" y="3719507"/>
                </a:lnTo>
                <a:lnTo>
                  <a:pt x="0" y="3719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44" b="-9444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3" name="Freeform 3"/>
          <p:cNvSpPr/>
          <p:nvPr/>
        </p:nvSpPr>
        <p:spPr>
          <a:xfrm>
            <a:off x="-1271941" y="8110095"/>
            <a:ext cx="3719506" cy="3719506"/>
          </a:xfrm>
          <a:custGeom>
            <a:avLst/>
            <a:gdLst/>
            <a:ahLst/>
            <a:cxnLst/>
            <a:rect l="l" t="t" r="r" b="b"/>
            <a:pathLst>
              <a:path w="3719506" h="3719506">
                <a:moveTo>
                  <a:pt x="0" y="0"/>
                </a:moveTo>
                <a:lnTo>
                  <a:pt x="3719506" y="0"/>
                </a:lnTo>
                <a:lnTo>
                  <a:pt x="3719506" y="3719506"/>
                </a:lnTo>
                <a:lnTo>
                  <a:pt x="0" y="3719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4" name="Freeform 4"/>
          <p:cNvSpPr/>
          <p:nvPr/>
        </p:nvSpPr>
        <p:spPr>
          <a:xfrm>
            <a:off x="4920343" y="1694596"/>
            <a:ext cx="8447314" cy="7563704"/>
          </a:xfrm>
          <a:custGeom>
            <a:avLst/>
            <a:gdLst/>
            <a:ahLst/>
            <a:cxnLst/>
            <a:rect l="l" t="t" r="r" b="b"/>
            <a:pathLst>
              <a:path w="8447314" h="7563704">
                <a:moveTo>
                  <a:pt x="0" y="0"/>
                </a:moveTo>
                <a:lnTo>
                  <a:pt x="8447314" y="0"/>
                </a:lnTo>
                <a:lnTo>
                  <a:pt x="8447314" y="7563704"/>
                </a:lnTo>
                <a:lnTo>
                  <a:pt x="0" y="7563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5" name="TextBox 5"/>
          <p:cNvSpPr txBox="1"/>
          <p:nvPr/>
        </p:nvSpPr>
        <p:spPr>
          <a:xfrm>
            <a:off x="1077759" y="359410"/>
            <a:ext cx="16132482" cy="110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Diagrama de Base de Datos </a:t>
            </a:r>
            <a:r>
              <a:rPr lang="en-US" sz="5799">
                <a:solidFill>
                  <a:srgbClr val="F1441C"/>
                </a:solidFill>
                <a:latin typeface="Handyman"/>
                <a:ea typeface="Handyman"/>
                <a:cs typeface="Handyman"/>
                <a:sym typeface="Handyman"/>
              </a:rPr>
              <a:t>- BibliotecaDB</a:t>
            </a:r>
          </a:p>
        </p:txBody>
      </p:sp>
      <p:sp>
        <p:nvSpPr>
          <p:cNvPr id="6" name="Freeform 6"/>
          <p:cNvSpPr/>
          <p:nvPr/>
        </p:nvSpPr>
        <p:spPr>
          <a:xfrm>
            <a:off x="14795339" y="1947692"/>
            <a:ext cx="3017862" cy="2771404"/>
          </a:xfrm>
          <a:custGeom>
            <a:avLst/>
            <a:gdLst/>
            <a:ahLst/>
            <a:cxnLst/>
            <a:rect l="l" t="t" r="r" b="b"/>
            <a:pathLst>
              <a:path w="3017862" h="2771404">
                <a:moveTo>
                  <a:pt x="0" y="0"/>
                </a:moveTo>
                <a:lnTo>
                  <a:pt x="3017862" y="0"/>
                </a:lnTo>
                <a:lnTo>
                  <a:pt x="3017862" y="2771404"/>
                </a:lnTo>
                <a:lnTo>
                  <a:pt x="0" y="27714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6E24-3001-18D4-48C4-A6B189B1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3BDDB6-62B0-0FD8-EBBB-5FE51AEE38E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44" b="-9444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DAF403B-A198-DA92-DC13-6E0F4E147E0C}"/>
              </a:ext>
            </a:extLst>
          </p:cNvPr>
          <p:cNvSpPr/>
          <p:nvPr/>
        </p:nvSpPr>
        <p:spPr>
          <a:xfrm>
            <a:off x="-1271941" y="8110095"/>
            <a:ext cx="3719506" cy="3719506"/>
          </a:xfrm>
          <a:custGeom>
            <a:avLst/>
            <a:gdLst/>
            <a:ahLst/>
            <a:cxnLst/>
            <a:rect l="l" t="t" r="r" b="b"/>
            <a:pathLst>
              <a:path w="3719506" h="3719506">
                <a:moveTo>
                  <a:pt x="0" y="0"/>
                </a:moveTo>
                <a:lnTo>
                  <a:pt x="3719506" y="0"/>
                </a:lnTo>
                <a:lnTo>
                  <a:pt x="3719506" y="3719506"/>
                </a:lnTo>
                <a:lnTo>
                  <a:pt x="0" y="3719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9DC0539-E0E4-7071-B8A0-95495FCBE4AB}"/>
              </a:ext>
            </a:extLst>
          </p:cNvPr>
          <p:cNvSpPr txBox="1"/>
          <p:nvPr/>
        </p:nvSpPr>
        <p:spPr>
          <a:xfrm>
            <a:off x="1077759" y="422284"/>
            <a:ext cx="16132482" cy="927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dirty="0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API - </a:t>
            </a:r>
            <a:r>
              <a:rPr lang="en-US" sz="5799" dirty="0">
                <a:solidFill>
                  <a:schemeClr val="accent4">
                    <a:lumMod val="75000"/>
                  </a:schemeClr>
                </a:solidFill>
                <a:latin typeface="Handyman"/>
                <a:ea typeface="Handyman"/>
                <a:cs typeface="Handyman"/>
                <a:sym typeface="Handyman"/>
              </a:rPr>
              <a:t>(Postman)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A275095-AC1F-A17B-FF9D-EB2041EECE28}"/>
              </a:ext>
            </a:extLst>
          </p:cNvPr>
          <p:cNvSpPr/>
          <p:nvPr/>
        </p:nvSpPr>
        <p:spPr>
          <a:xfrm>
            <a:off x="15629490" y="7792068"/>
            <a:ext cx="3063382" cy="3380284"/>
          </a:xfrm>
          <a:custGeom>
            <a:avLst/>
            <a:gdLst/>
            <a:ahLst/>
            <a:cxnLst/>
            <a:rect l="l" t="t" r="r" b="b"/>
            <a:pathLst>
              <a:path w="3063382" h="3380284">
                <a:moveTo>
                  <a:pt x="0" y="0"/>
                </a:moveTo>
                <a:lnTo>
                  <a:pt x="3063383" y="0"/>
                </a:lnTo>
                <a:lnTo>
                  <a:pt x="3063383" y="3380284"/>
                </a:lnTo>
                <a:lnTo>
                  <a:pt x="0" y="3380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C86D73D-1D44-1F00-A6EB-7795B0884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669" y="1694596"/>
            <a:ext cx="13004544" cy="730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0971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44" b="-9444"/>
            </a:stretch>
          </a:blipFill>
        </p:spPr>
        <p:txBody>
          <a:bodyPr/>
          <a:lstStyle/>
          <a:p>
            <a:endParaRPr lang="es-PA"/>
          </a:p>
        </p:txBody>
      </p:sp>
      <p:grpSp>
        <p:nvGrpSpPr>
          <p:cNvPr id="3" name="Group 3"/>
          <p:cNvGrpSpPr/>
          <p:nvPr/>
        </p:nvGrpSpPr>
        <p:grpSpPr>
          <a:xfrm>
            <a:off x="0" y="1745930"/>
            <a:ext cx="14220800" cy="7714614"/>
            <a:chOff x="0" y="0"/>
            <a:chExt cx="3745396" cy="20318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45396" cy="2031832"/>
            </a:xfrm>
            <a:custGeom>
              <a:avLst/>
              <a:gdLst/>
              <a:ahLst/>
              <a:cxnLst/>
              <a:rect l="l" t="t" r="r" b="b"/>
              <a:pathLst>
                <a:path w="3745396" h="2031832">
                  <a:moveTo>
                    <a:pt x="27765" y="0"/>
                  </a:moveTo>
                  <a:lnTo>
                    <a:pt x="3717631" y="0"/>
                  </a:lnTo>
                  <a:cubicBezTo>
                    <a:pt x="3724995" y="0"/>
                    <a:pt x="3732057" y="2925"/>
                    <a:pt x="3737264" y="8132"/>
                  </a:cubicBezTo>
                  <a:cubicBezTo>
                    <a:pt x="3742471" y="13339"/>
                    <a:pt x="3745396" y="20401"/>
                    <a:pt x="3745396" y="27765"/>
                  </a:cubicBezTo>
                  <a:lnTo>
                    <a:pt x="3745396" y="2004068"/>
                  </a:lnTo>
                  <a:cubicBezTo>
                    <a:pt x="3745396" y="2011431"/>
                    <a:pt x="3742471" y="2018493"/>
                    <a:pt x="3737264" y="2023700"/>
                  </a:cubicBezTo>
                  <a:cubicBezTo>
                    <a:pt x="3732057" y="2028907"/>
                    <a:pt x="3724995" y="2031832"/>
                    <a:pt x="3717631" y="2031832"/>
                  </a:cubicBezTo>
                  <a:lnTo>
                    <a:pt x="27765" y="2031832"/>
                  </a:lnTo>
                  <a:cubicBezTo>
                    <a:pt x="20401" y="2031832"/>
                    <a:pt x="13339" y="2028907"/>
                    <a:pt x="8132" y="2023700"/>
                  </a:cubicBezTo>
                  <a:cubicBezTo>
                    <a:pt x="2925" y="2018493"/>
                    <a:pt x="0" y="2011431"/>
                    <a:pt x="0" y="2004068"/>
                  </a:cubicBezTo>
                  <a:lnTo>
                    <a:pt x="0" y="27765"/>
                  </a:lnTo>
                  <a:cubicBezTo>
                    <a:pt x="0" y="20401"/>
                    <a:pt x="2925" y="13339"/>
                    <a:pt x="8132" y="8132"/>
                  </a:cubicBezTo>
                  <a:cubicBezTo>
                    <a:pt x="13339" y="2925"/>
                    <a:pt x="20401" y="0"/>
                    <a:pt x="2776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P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45396" cy="2069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7306" y="2252863"/>
            <a:ext cx="13495638" cy="663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826" lvl="1" indent="-332913" algn="just">
              <a:lnSpc>
                <a:spcPts val="4317"/>
              </a:lnSpc>
              <a:buFont typeface="Arial"/>
              <a:buChar char="•"/>
            </a:pPr>
            <a:r>
              <a:rPr lang="en-US" sz="3083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El proyecto está desarrollado en C# con ASP.NET MVC, separando responsabilidades mediante controladores, modelos y vistas.</a:t>
            </a:r>
          </a:p>
          <a:p>
            <a:pPr marL="665826" lvl="1" indent="-332913" algn="just">
              <a:lnSpc>
                <a:spcPts val="4317"/>
              </a:lnSpc>
              <a:buFont typeface="Arial"/>
              <a:buChar char="•"/>
            </a:pPr>
            <a:r>
              <a:rPr lang="en-US" sz="3083">
                <a:solidFill>
                  <a:srgbClr val="0933A6"/>
                </a:solidFill>
                <a:latin typeface="Handyman"/>
                <a:ea typeface="Handyman"/>
                <a:cs typeface="Handyman"/>
                <a:sym typeface="Handyman"/>
              </a:rPr>
              <a:t>Se utiliza una arquitectura en capas, donde la lógica de acceso a datos se maneja a través de DAL (Data Access Layer).</a:t>
            </a:r>
          </a:p>
          <a:p>
            <a:pPr marL="665826" lvl="1" indent="-332913" algn="just">
              <a:lnSpc>
                <a:spcPts val="4317"/>
              </a:lnSpc>
              <a:buFont typeface="Arial"/>
              <a:buChar char="•"/>
            </a:pPr>
            <a:r>
              <a:rPr lang="en-US" sz="3083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La base de datos SQL Server almacena la información de usuarios, libros, préstamos y reseñas.</a:t>
            </a:r>
          </a:p>
          <a:p>
            <a:pPr marL="665826" lvl="1" indent="-332913" algn="just">
              <a:lnSpc>
                <a:spcPts val="4317"/>
              </a:lnSpc>
              <a:buFont typeface="Arial"/>
              <a:buChar char="•"/>
            </a:pPr>
            <a:r>
              <a:rPr lang="en-US" sz="3083">
                <a:solidFill>
                  <a:srgbClr val="0933A6"/>
                </a:solidFill>
                <a:latin typeface="Handyman"/>
                <a:ea typeface="Handyman"/>
                <a:cs typeface="Handyman"/>
                <a:sym typeface="Handyman"/>
              </a:rPr>
              <a:t>Se implementa una API REST externa únicamente para el listado de libros.</a:t>
            </a:r>
          </a:p>
          <a:p>
            <a:pPr marL="665826" lvl="1" indent="-332913" algn="just">
              <a:lnSpc>
                <a:spcPts val="4317"/>
              </a:lnSpc>
              <a:buFont typeface="Arial"/>
              <a:buChar char="•"/>
            </a:pPr>
            <a:r>
              <a:rPr lang="en-US" sz="3083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El sistema maneja roles de usuario (Administrador y Cliente) para controlar permisos.</a:t>
            </a:r>
          </a:p>
          <a:p>
            <a:pPr marL="665826" lvl="1" indent="-332913" algn="just">
              <a:lnSpc>
                <a:spcPts val="4317"/>
              </a:lnSpc>
              <a:buFont typeface="Arial"/>
              <a:buChar char="•"/>
            </a:pPr>
            <a:r>
              <a:rPr lang="en-US" sz="3083">
                <a:solidFill>
                  <a:srgbClr val="0933A6"/>
                </a:solidFill>
                <a:latin typeface="Handyman"/>
                <a:ea typeface="Handyman"/>
                <a:cs typeface="Handyman"/>
                <a:sym typeface="Handyman"/>
              </a:rPr>
              <a:t>Se incluye generación de reportes en PDF mediante Rotativa.</a:t>
            </a:r>
          </a:p>
          <a:p>
            <a:pPr marL="709005" lvl="1" indent="-354502" algn="just">
              <a:lnSpc>
                <a:spcPts val="4597"/>
              </a:lnSpc>
              <a:buFont typeface="Arial"/>
              <a:buChar char="•"/>
            </a:pPr>
            <a:r>
              <a:rPr lang="en-US" sz="3283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Se usan procedimientos almacenados para las operaciones de la base de datos.</a:t>
            </a:r>
          </a:p>
        </p:txBody>
      </p:sp>
      <p:sp>
        <p:nvSpPr>
          <p:cNvPr id="7" name="Freeform 7"/>
          <p:cNvSpPr/>
          <p:nvPr/>
        </p:nvSpPr>
        <p:spPr>
          <a:xfrm>
            <a:off x="13401594" y="6121489"/>
            <a:ext cx="4894111" cy="5243650"/>
          </a:xfrm>
          <a:custGeom>
            <a:avLst/>
            <a:gdLst/>
            <a:ahLst/>
            <a:cxnLst/>
            <a:rect l="l" t="t" r="r" b="b"/>
            <a:pathLst>
              <a:path w="4894111" h="5243650">
                <a:moveTo>
                  <a:pt x="0" y="0"/>
                </a:moveTo>
                <a:lnTo>
                  <a:pt x="4894112" y="0"/>
                </a:lnTo>
                <a:lnTo>
                  <a:pt x="4894112" y="5243649"/>
                </a:lnTo>
                <a:lnTo>
                  <a:pt x="0" y="5243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77" r="-2477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8" name="TextBox 8"/>
          <p:cNvSpPr txBox="1"/>
          <p:nvPr/>
        </p:nvSpPr>
        <p:spPr>
          <a:xfrm>
            <a:off x="1028700" y="359410"/>
            <a:ext cx="16230600" cy="110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66CD16"/>
                </a:solidFill>
                <a:latin typeface="Handyman"/>
                <a:ea typeface="Handyman"/>
                <a:cs typeface="Handyman"/>
                <a:sym typeface="Handyman"/>
              </a:rPr>
              <a:t>Aspectos generales del código fuente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</Words>
  <Application>Microsoft Office PowerPoint</Application>
  <PresentationFormat>Personalizado</PresentationFormat>
  <Paragraphs>17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Handyman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BIBLIOTECA ROCKET</dc:title>
  <cp:lastModifiedBy>Marleni Barría</cp:lastModifiedBy>
  <cp:revision>3</cp:revision>
  <dcterms:created xsi:type="dcterms:W3CDTF">2006-08-16T00:00:00Z</dcterms:created>
  <dcterms:modified xsi:type="dcterms:W3CDTF">2025-12-17T05:26:19Z</dcterms:modified>
  <dc:identifier>DAG7vEIsueg</dc:identifier>
</cp:coreProperties>
</file>