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ukhari Script" panose="020B0604020202020204" charset="0"/>
      <p:regular r:id="rId15"/>
    </p:embeddedFont>
    <p:embeddedFont>
      <p:font typeface="ITC Avant Garde Gothic" panose="020B0604020202020204" charset="0"/>
      <p:regular r:id="rId16"/>
    </p:embeddedFont>
    <p:embeddedFont>
      <p:font typeface="ITC Avant Garde Gothic Bold" panose="020B0604020202020204" charset="0"/>
      <p:regular r:id="rId17"/>
    </p:embeddedFont>
    <p:embeddedFont>
      <p:font typeface="TT Fors" panose="020B0604020202020204" charset="0"/>
      <p:regular r:id="rId18"/>
    </p:embeddedFont>
    <p:embeddedFont>
      <p:font typeface="TT For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8061587" y="8259104"/>
            <a:ext cx="1416732" cy="1416732"/>
          </a:xfrm>
          <a:custGeom>
            <a:avLst/>
            <a:gdLst/>
            <a:ahLst/>
            <a:cxnLst/>
            <a:rect l="l" t="t" r="r" b="b"/>
            <a:pathLst>
              <a:path w="1416732" h="1416732">
                <a:moveTo>
                  <a:pt x="0" y="0"/>
                </a:moveTo>
                <a:lnTo>
                  <a:pt x="1416732" y="0"/>
                </a:lnTo>
                <a:lnTo>
                  <a:pt x="1416732" y="1416732"/>
                </a:lnTo>
                <a:lnTo>
                  <a:pt x="0" y="141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678344" y="8203518"/>
            <a:ext cx="1406238" cy="1416732"/>
          </a:xfrm>
          <a:custGeom>
            <a:avLst/>
            <a:gdLst/>
            <a:ahLst/>
            <a:cxnLst/>
            <a:rect l="l" t="t" r="r" b="b"/>
            <a:pathLst>
              <a:path w="1406238" h="1416732">
                <a:moveTo>
                  <a:pt x="0" y="0"/>
                </a:moveTo>
                <a:lnTo>
                  <a:pt x="1406238" y="0"/>
                </a:lnTo>
                <a:lnTo>
                  <a:pt x="1406238" y="1416732"/>
                </a:lnTo>
                <a:lnTo>
                  <a:pt x="0" y="141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1028700"/>
            <a:ext cx="9763125" cy="6321424"/>
            <a:chOff x="0" y="0"/>
            <a:chExt cx="13017500" cy="8428566"/>
          </a:xfrm>
        </p:grpSpPr>
        <p:sp>
          <p:nvSpPr>
            <p:cNvPr id="7" name="TextBox 7"/>
            <p:cNvSpPr txBox="1"/>
            <p:nvPr/>
          </p:nvSpPr>
          <p:spPr>
            <a:xfrm>
              <a:off x="0" y="3013075"/>
              <a:ext cx="13017500" cy="5415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99"/>
                </a:lnSpc>
              </a:pPr>
              <a:r>
                <a:rPr lang="en-US" sz="9999" b="1" spc="-299">
                  <a:solidFill>
                    <a:srgbClr val="F4F6FC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Proyecto #1</a:t>
              </a:r>
            </a:p>
            <a:p>
              <a:pPr marL="0" lvl="0" indent="0" algn="ctr">
                <a:lnSpc>
                  <a:spcPts val="9999"/>
                </a:lnSpc>
              </a:pPr>
              <a:r>
                <a:rPr lang="en-US" sz="9999" spc="-299">
                  <a:solidFill>
                    <a:srgbClr val="F4F6F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Aplicación Calculadora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3017500" cy="24551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4F6F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UNIVERSIDAD TECNOLÓGICA DE PANAMÁ 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4F6F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FACULTAD DE INGENIERÍA EN SISTEMAS COMPUTACIONALES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4F6F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LICENCIATURA EN DESARROLLO Y GESTIÓN DE SOFTWARE </a:t>
              </a:r>
            </a:p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4F6F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DESARROLLO DE SOFTWARE 4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3474" y="8267065"/>
            <a:ext cx="7194651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F4F6FC"/>
                </a:solidFill>
                <a:latin typeface="TT Fors Bold"/>
                <a:ea typeface="TT Fors Bold"/>
                <a:cs typeface="TT Fors Bold"/>
                <a:sym typeface="TT Fors Bold"/>
              </a:rPr>
              <a:t>Integrantes: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4F6FC"/>
                </a:solidFill>
                <a:latin typeface="TT Fors"/>
                <a:ea typeface="TT Fors"/>
                <a:cs typeface="TT Fors"/>
                <a:sym typeface="TT Fors"/>
              </a:rPr>
              <a:t>Barría Marleni, 8-977-1987</a:t>
            </a:r>
          </a:p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F4F6FC"/>
                </a:solidFill>
                <a:latin typeface="TT Fors"/>
                <a:ea typeface="TT Fors"/>
                <a:cs typeface="TT Fors"/>
                <a:sym typeface="TT Fors"/>
              </a:rPr>
              <a:t>Rodríguez Carolina, 8-963-2307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125967"/>
            <a:ext cx="18288000" cy="8161033"/>
            <a:chOff x="0" y="0"/>
            <a:chExt cx="4816593" cy="2149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149408"/>
            </a:xfrm>
            <a:custGeom>
              <a:avLst/>
              <a:gdLst/>
              <a:ahLst/>
              <a:cxnLst/>
              <a:rect l="l" t="t" r="r" b="b"/>
              <a:pathLst>
                <a:path w="4816592" h="2149408">
                  <a:moveTo>
                    <a:pt x="0" y="0"/>
                  </a:moveTo>
                  <a:lnTo>
                    <a:pt x="4816592" y="0"/>
                  </a:lnTo>
                  <a:lnTo>
                    <a:pt x="4816592" y="2149408"/>
                  </a:lnTo>
                  <a:lnTo>
                    <a:pt x="0" y="2149408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4816593" cy="2254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990847" y="3086100"/>
            <a:ext cx="5639427" cy="5639427"/>
          </a:xfrm>
          <a:custGeom>
            <a:avLst/>
            <a:gdLst/>
            <a:ahLst/>
            <a:cxnLst/>
            <a:rect l="l" t="t" r="r" b="b"/>
            <a:pathLst>
              <a:path w="5639427" h="5639427">
                <a:moveTo>
                  <a:pt x="0" y="0"/>
                </a:moveTo>
                <a:lnTo>
                  <a:pt x="5639428" y="0"/>
                </a:lnTo>
                <a:lnTo>
                  <a:pt x="5639428" y="5639427"/>
                </a:lnTo>
                <a:lnTo>
                  <a:pt x="0" y="5639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990847" y="3316922"/>
            <a:ext cx="4770033" cy="5177783"/>
          </a:xfrm>
          <a:custGeom>
            <a:avLst/>
            <a:gdLst/>
            <a:ahLst/>
            <a:cxnLst/>
            <a:rect l="l" t="t" r="r" b="b"/>
            <a:pathLst>
              <a:path w="4770033" h="5177783">
                <a:moveTo>
                  <a:pt x="0" y="0"/>
                </a:moveTo>
                <a:lnTo>
                  <a:pt x="4770033" y="0"/>
                </a:lnTo>
                <a:lnTo>
                  <a:pt x="4770033" y="5177783"/>
                </a:lnTo>
                <a:lnTo>
                  <a:pt x="0" y="5177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66750" y="666750"/>
            <a:ext cx="11201400" cy="2918433"/>
            <a:chOff x="0" y="0"/>
            <a:chExt cx="14935200" cy="389124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b="1" spc="-240">
                  <a:solidFill>
                    <a:srgbClr val="F4F6FC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Introducción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428964"/>
              <a:ext cx="110998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235200"/>
              <a:ext cx="130175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8405" y="3147390"/>
            <a:ext cx="7856621" cy="541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Este proyecto consiste en el desarrollo de una calculadora con interfaz gráfica creada en C# (Windows Forms) y conectada a una base de datos en SQL Server.</a:t>
            </a:r>
          </a:p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Su objetivo principal es permitir al usuario realizar operaciones matemáticas básicas y funciones como raíz, potencias y porcentajes, además de guardar los resultados en una base de datos para poder consultarlos después.</a:t>
            </a:r>
          </a:p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El proyecto busca integrar en una sola aplicación la parte visual, la lógica de programación y la gestión de datos.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201779"/>
            <a:ext cx="18288000" cy="8085221"/>
            <a:chOff x="0" y="0"/>
            <a:chExt cx="4816593" cy="21294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129441"/>
            </a:xfrm>
            <a:custGeom>
              <a:avLst/>
              <a:gdLst/>
              <a:ahLst/>
              <a:cxnLst/>
              <a:rect l="l" t="t" r="r" b="b"/>
              <a:pathLst>
                <a:path w="4816592" h="2129441">
                  <a:moveTo>
                    <a:pt x="0" y="0"/>
                  </a:moveTo>
                  <a:lnTo>
                    <a:pt x="4816592" y="0"/>
                  </a:lnTo>
                  <a:lnTo>
                    <a:pt x="4816592" y="2129441"/>
                  </a:lnTo>
                  <a:lnTo>
                    <a:pt x="0" y="21294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4816593" cy="2234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b="1" spc="-240">
                  <a:solidFill>
                    <a:srgbClr val="F4F6FC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Aspectos Generales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33375" y="2376303"/>
            <a:ext cx="17287875" cy="73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Este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proyecto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es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una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calculadora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con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interfaz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gráfica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,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hecha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Windows Forms y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conectada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una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base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SQL Server.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clase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b="1" spc="-73" dirty="0" err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FormCalculadora</a:t>
            </a:r>
            <a:r>
              <a:rPr lang="en-US" sz="2451" b="1" spc="-73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encarga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manejar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parte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visual, las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acciones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del usuario y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conexión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con la base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Los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botones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números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y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operaciones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permiten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escribir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las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expresiones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directamente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pantalla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Cuando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presiona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botón</a:t>
            </a:r>
            <a:r>
              <a:rPr lang="en-US" sz="2451" b="1" spc="-73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“=”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,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programa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: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Toma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expresión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usuario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ingresó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procesa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y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realiza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cálculo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Muestra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pantalla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clase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b="1" spc="-73" dirty="0" err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Calculos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contiene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las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operaciones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básicas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y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funciones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matemáticas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Cada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guarda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automáticamente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base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, junto con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fecha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y hora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realizó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operación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botón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historial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permite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ver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cálculos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anteriores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guardados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programa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también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maneja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errores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,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ocurre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algún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problema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cálculos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o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conexión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con la base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marL="529226" lvl="1" indent="-264613" algn="l">
              <a:lnSpc>
                <a:spcPts val="3431"/>
              </a:lnSpc>
              <a:buFont typeface="Arial"/>
              <a:buChar char="•"/>
            </a:pP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resumen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,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sistema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combina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interfaz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visual,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lógica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cálculos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y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almacenamiento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de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datos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para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calculadora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funcione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51" spc="-73" dirty="0" err="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correctamente</a:t>
            </a:r>
            <a:r>
              <a:rPr lang="en-US" sz="2451" spc="-73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48032" y="3528778"/>
            <a:ext cx="9971810" cy="4177449"/>
          </a:xfrm>
          <a:custGeom>
            <a:avLst/>
            <a:gdLst/>
            <a:ahLst/>
            <a:cxnLst/>
            <a:rect l="l" t="t" r="r" b="b"/>
            <a:pathLst>
              <a:path w="9971810" h="4177449">
                <a:moveTo>
                  <a:pt x="0" y="0"/>
                </a:moveTo>
                <a:lnTo>
                  <a:pt x="9971810" y="0"/>
                </a:lnTo>
                <a:lnTo>
                  <a:pt x="9971810" y="4177448"/>
                </a:lnTo>
                <a:lnTo>
                  <a:pt x="0" y="4177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3" t="-259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2508584"/>
            <a:chOff x="0" y="0"/>
            <a:chExt cx="4816593" cy="6606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660697"/>
            </a:xfrm>
            <a:custGeom>
              <a:avLst/>
              <a:gdLst/>
              <a:ahLst/>
              <a:cxnLst/>
              <a:rect l="l" t="t" r="r" b="b"/>
              <a:pathLst>
                <a:path w="4816592" h="660697">
                  <a:moveTo>
                    <a:pt x="0" y="0"/>
                  </a:moveTo>
                  <a:lnTo>
                    <a:pt x="4816592" y="0"/>
                  </a:lnTo>
                  <a:lnTo>
                    <a:pt x="4816592" y="660697"/>
                  </a:lnTo>
                  <a:lnTo>
                    <a:pt x="0" y="6606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4816593" cy="765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997266" y="5143500"/>
            <a:ext cx="4262034" cy="4114800"/>
          </a:xfrm>
          <a:custGeom>
            <a:avLst/>
            <a:gdLst/>
            <a:ahLst/>
            <a:cxnLst/>
            <a:rect l="l" t="t" r="r" b="b"/>
            <a:pathLst>
              <a:path w="4262034" h="4114800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11129" y="693320"/>
            <a:ext cx="15424484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b="1" spc="-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Diagrama de Base de Datos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2308" y="2477538"/>
            <a:ext cx="8147708" cy="6167138"/>
          </a:xfrm>
          <a:custGeom>
            <a:avLst/>
            <a:gdLst/>
            <a:ahLst/>
            <a:cxnLst/>
            <a:rect l="l" t="t" r="r" b="b"/>
            <a:pathLst>
              <a:path w="8147708" h="6167138">
                <a:moveTo>
                  <a:pt x="0" y="0"/>
                </a:moveTo>
                <a:lnTo>
                  <a:pt x="8147708" y="0"/>
                </a:lnTo>
                <a:lnTo>
                  <a:pt x="8147708" y="6167138"/>
                </a:lnTo>
                <a:lnTo>
                  <a:pt x="0" y="6167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714500"/>
            <a:chOff x="0" y="0"/>
            <a:chExt cx="4816593" cy="4515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51556"/>
            </a:xfrm>
            <a:custGeom>
              <a:avLst/>
              <a:gdLst/>
              <a:ahLst/>
              <a:cxnLst/>
              <a:rect l="l" t="t" r="r" b="b"/>
              <a:pathLst>
                <a:path w="4816592" h="451556">
                  <a:moveTo>
                    <a:pt x="0" y="0"/>
                  </a:moveTo>
                  <a:lnTo>
                    <a:pt x="4816592" y="0"/>
                  </a:lnTo>
                  <a:lnTo>
                    <a:pt x="4816592" y="451556"/>
                  </a:lnTo>
                  <a:lnTo>
                    <a:pt x="0" y="45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4816593" cy="55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618284"/>
            <a:chOff x="0" y="0"/>
            <a:chExt cx="4816593" cy="162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2840"/>
            </a:xfrm>
            <a:custGeom>
              <a:avLst/>
              <a:gdLst/>
              <a:ahLst/>
              <a:cxnLst/>
              <a:rect l="l" t="t" r="r" b="b"/>
              <a:pathLst>
                <a:path w="4816592" h="162840">
                  <a:moveTo>
                    <a:pt x="0" y="0"/>
                  </a:moveTo>
                  <a:lnTo>
                    <a:pt x="4816592" y="0"/>
                  </a:lnTo>
                  <a:lnTo>
                    <a:pt x="4816592" y="162840"/>
                  </a:lnTo>
                  <a:lnTo>
                    <a:pt x="0" y="162840"/>
                  </a:lnTo>
                  <a:close/>
                </a:path>
              </a:pathLst>
            </a:custGeom>
            <a:solidFill>
              <a:srgbClr val="576D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4816593" cy="26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-5951455" y="7665955"/>
            <a:ext cx="12585032" cy="682121"/>
            <a:chOff x="0" y="0"/>
            <a:chExt cx="3314576" cy="1796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14576" cy="179653"/>
            </a:xfrm>
            <a:custGeom>
              <a:avLst/>
              <a:gdLst/>
              <a:ahLst/>
              <a:cxnLst/>
              <a:rect l="l" t="t" r="r" b="b"/>
              <a:pathLst>
                <a:path w="3314576" h="179653">
                  <a:moveTo>
                    <a:pt x="0" y="0"/>
                  </a:moveTo>
                  <a:lnTo>
                    <a:pt x="3314576" y="0"/>
                  </a:lnTo>
                  <a:lnTo>
                    <a:pt x="3314576" y="179653"/>
                  </a:lnTo>
                  <a:lnTo>
                    <a:pt x="0" y="17965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3314576" cy="2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622255" y="2477538"/>
            <a:ext cx="8089363" cy="6167138"/>
          </a:xfrm>
          <a:custGeom>
            <a:avLst/>
            <a:gdLst/>
            <a:ahLst/>
            <a:cxnLst/>
            <a:rect l="l" t="t" r="r" b="b"/>
            <a:pathLst>
              <a:path w="8089363" h="6167138">
                <a:moveTo>
                  <a:pt x="0" y="0"/>
                </a:moveTo>
                <a:lnTo>
                  <a:pt x="8089364" y="0"/>
                </a:lnTo>
                <a:lnTo>
                  <a:pt x="8089364" y="6167138"/>
                </a:lnTo>
                <a:lnTo>
                  <a:pt x="0" y="6167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1061" y="12930"/>
            <a:ext cx="3164139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s-PA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</a:t>
            </a: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ISUAL STUDIO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12367" y="1741202"/>
            <a:ext cx="623192" cy="874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</a:t>
            </a:r>
          </a:p>
          <a:p>
            <a:pPr algn="r">
              <a:lnSpc>
                <a:spcPts val="3571"/>
              </a:lnSpc>
              <a:spcBef>
                <a:spcPct val="0"/>
              </a:spcBef>
            </a:pPr>
            <a:endParaRPr lang="en-US" sz="2551" spc="-76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1061" y="733425"/>
            <a:ext cx="9281194" cy="530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1" b="1" spc="-9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OPERACIONES BÁSICAS DE SUMA Y RESTA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34292" y="8962088"/>
            <a:ext cx="1948507" cy="445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9260" y="8962088"/>
            <a:ext cx="2366340" cy="445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OPERACIÓN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14500"/>
            <a:chOff x="0" y="0"/>
            <a:chExt cx="4816593" cy="451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51556"/>
            </a:xfrm>
            <a:custGeom>
              <a:avLst/>
              <a:gdLst/>
              <a:ahLst/>
              <a:cxnLst/>
              <a:rect l="l" t="t" r="r" b="b"/>
              <a:pathLst>
                <a:path w="4816592" h="451556">
                  <a:moveTo>
                    <a:pt x="0" y="0"/>
                  </a:moveTo>
                  <a:lnTo>
                    <a:pt x="4816592" y="0"/>
                  </a:lnTo>
                  <a:lnTo>
                    <a:pt x="4816592" y="451556"/>
                  </a:lnTo>
                  <a:lnTo>
                    <a:pt x="0" y="45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16593" cy="55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18284"/>
            <a:chOff x="0" y="0"/>
            <a:chExt cx="4816593" cy="162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62840"/>
            </a:xfrm>
            <a:custGeom>
              <a:avLst/>
              <a:gdLst/>
              <a:ahLst/>
              <a:cxnLst/>
              <a:rect l="l" t="t" r="r" b="b"/>
              <a:pathLst>
                <a:path w="4816592" h="162840">
                  <a:moveTo>
                    <a:pt x="0" y="0"/>
                  </a:moveTo>
                  <a:lnTo>
                    <a:pt x="4816592" y="0"/>
                  </a:lnTo>
                  <a:lnTo>
                    <a:pt x="4816592" y="162840"/>
                  </a:lnTo>
                  <a:lnTo>
                    <a:pt x="0" y="162840"/>
                  </a:lnTo>
                  <a:close/>
                </a:path>
              </a:pathLst>
            </a:custGeom>
            <a:solidFill>
              <a:srgbClr val="576D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4816593" cy="26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5951455" y="7665955"/>
            <a:ext cx="12585032" cy="682121"/>
            <a:chOff x="0" y="0"/>
            <a:chExt cx="3314576" cy="1796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14576" cy="179653"/>
            </a:xfrm>
            <a:custGeom>
              <a:avLst/>
              <a:gdLst/>
              <a:ahLst/>
              <a:cxnLst/>
              <a:rect l="l" t="t" r="r" b="b"/>
              <a:pathLst>
                <a:path w="3314576" h="179653">
                  <a:moveTo>
                    <a:pt x="0" y="0"/>
                  </a:moveTo>
                  <a:lnTo>
                    <a:pt x="3314576" y="0"/>
                  </a:lnTo>
                  <a:lnTo>
                    <a:pt x="3314576" y="179653"/>
                  </a:lnTo>
                  <a:lnTo>
                    <a:pt x="0" y="17965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3314576" cy="2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66935" y="2414133"/>
            <a:ext cx="8231474" cy="6230543"/>
          </a:xfrm>
          <a:custGeom>
            <a:avLst/>
            <a:gdLst/>
            <a:ahLst/>
            <a:cxnLst/>
            <a:rect l="l" t="t" r="r" b="b"/>
            <a:pathLst>
              <a:path w="8231474" h="6230543">
                <a:moveTo>
                  <a:pt x="0" y="0"/>
                </a:moveTo>
                <a:lnTo>
                  <a:pt x="8231474" y="0"/>
                </a:lnTo>
                <a:lnTo>
                  <a:pt x="8231474" y="6230543"/>
                </a:lnTo>
                <a:lnTo>
                  <a:pt x="0" y="6230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518707" y="2414133"/>
            <a:ext cx="8296460" cy="6230543"/>
          </a:xfrm>
          <a:custGeom>
            <a:avLst/>
            <a:gdLst/>
            <a:ahLst/>
            <a:cxnLst/>
            <a:rect l="l" t="t" r="r" b="b"/>
            <a:pathLst>
              <a:path w="8296460" h="6230543">
                <a:moveTo>
                  <a:pt x="0" y="0"/>
                </a:moveTo>
                <a:lnTo>
                  <a:pt x="8296460" y="0"/>
                </a:lnTo>
                <a:lnTo>
                  <a:pt x="8296460" y="6230543"/>
                </a:lnTo>
                <a:lnTo>
                  <a:pt x="0" y="6230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1061" y="12930"/>
            <a:ext cx="2783139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s-PA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</a:t>
            </a: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ISUAL STUDIO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" y="1741202"/>
            <a:ext cx="510824" cy="874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</a:t>
            </a:r>
          </a:p>
          <a:p>
            <a:pPr algn="r">
              <a:lnSpc>
                <a:spcPts val="3571"/>
              </a:lnSpc>
              <a:spcBef>
                <a:spcPct val="0"/>
              </a:spcBef>
            </a:pPr>
            <a:endParaRPr lang="en-US" sz="2551" spc="-76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1061" y="733425"/>
            <a:ext cx="10699898" cy="57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1" b="1" spc="-9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OPERACIONES BÁSICAS DE MULTIPLICACIÓN Y DIVISIÓN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34292" y="8962088"/>
            <a:ext cx="1796107" cy="431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9260" y="8962087"/>
            <a:ext cx="2137740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OPERACIÓN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14500"/>
            <a:chOff x="0" y="0"/>
            <a:chExt cx="4816593" cy="451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51556"/>
            </a:xfrm>
            <a:custGeom>
              <a:avLst/>
              <a:gdLst/>
              <a:ahLst/>
              <a:cxnLst/>
              <a:rect l="l" t="t" r="r" b="b"/>
              <a:pathLst>
                <a:path w="4816592" h="451556">
                  <a:moveTo>
                    <a:pt x="0" y="0"/>
                  </a:moveTo>
                  <a:lnTo>
                    <a:pt x="4816592" y="0"/>
                  </a:lnTo>
                  <a:lnTo>
                    <a:pt x="4816592" y="451556"/>
                  </a:lnTo>
                  <a:lnTo>
                    <a:pt x="0" y="45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16593" cy="55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18284"/>
            <a:chOff x="0" y="0"/>
            <a:chExt cx="4816593" cy="162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62840"/>
            </a:xfrm>
            <a:custGeom>
              <a:avLst/>
              <a:gdLst/>
              <a:ahLst/>
              <a:cxnLst/>
              <a:rect l="l" t="t" r="r" b="b"/>
              <a:pathLst>
                <a:path w="4816592" h="162840">
                  <a:moveTo>
                    <a:pt x="0" y="0"/>
                  </a:moveTo>
                  <a:lnTo>
                    <a:pt x="4816592" y="0"/>
                  </a:lnTo>
                  <a:lnTo>
                    <a:pt x="4816592" y="162840"/>
                  </a:lnTo>
                  <a:lnTo>
                    <a:pt x="0" y="162840"/>
                  </a:lnTo>
                  <a:close/>
                </a:path>
              </a:pathLst>
            </a:custGeom>
            <a:solidFill>
              <a:srgbClr val="576D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4816593" cy="26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5951455" y="7665955"/>
            <a:ext cx="12585032" cy="682121"/>
            <a:chOff x="0" y="0"/>
            <a:chExt cx="3314576" cy="1796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14576" cy="179653"/>
            </a:xfrm>
            <a:custGeom>
              <a:avLst/>
              <a:gdLst/>
              <a:ahLst/>
              <a:cxnLst/>
              <a:rect l="l" t="t" r="r" b="b"/>
              <a:pathLst>
                <a:path w="3314576" h="179653">
                  <a:moveTo>
                    <a:pt x="0" y="0"/>
                  </a:moveTo>
                  <a:lnTo>
                    <a:pt x="3314576" y="0"/>
                  </a:lnTo>
                  <a:lnTo>
                    <a:pt x="3314576" y="179653"/>
                  </a:lnTo>
                  <a:lnTo>
                    <a:pt x="0" y="17965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3314576" cy="2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2457359"/>
            <a:ext cx="8165870" cy="6225465"/>
          </a:xfrm>
          <a:custGeom>
            <a:avLst/>
            <a:gdLst/>
            <a:ahLst/>
            <a:cxnLst/>
            <a:rect l="l" t="t" r="r" b="b"/>
            <a:pathLst>
              <a:path w="8165870" h="6225465">
                <a:moveTo>
                  <a:pt x="0" y="0"/>
                </a:moveTo>
                <a:lnTo>
                  <a:pt x="8165870" y="0"/>
                </a:lnTo>
                <a:lnTo>
                  <a:pt x="8165870" y="6225466"/>
                </a:lnTo>
                <a:lnTo>
                  <a:pt x="0" y="6225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537470" y="2457359"/>
            <a:ext cx="8130977" cy="6187317"/>
          </a:xfrm>
          <a:custGeom>
            <a:avLst/>
            <a:gdLst/>
            <a:ahLst/>
            <a:cxnLst/>
            <a:rect l="l" t="t" r="r" b="b"/>
            <a:pathLst>
              <a:path w="8130977" h="6187317">
                <a:moveTo>
                  <a:pt x="0" y="0"/>
                </a:moveTo>
                <a:lnTo>
                  <a:pt x="8130977" y="0"/>
                </a:lnTo>
                <a:lnTo>
                  <a:pt x="8130977" y="6187317"/>
                </a:lnTo>
                <a:lnTo>
                  <a:pt x="0" y="6187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1061" y="12930"/>
            <a:ext cx="2478339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s-PA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</a:t>
            </a: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ISUAL STUDIO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" y="1741202"/>
            <a:ext cx="510824" cy="874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</a:t>
            </a:r>
          </a:p>
          <a:p>
            <a:pPr algn="r">
              <a:lnSpc>
                <a:spcPts val="3571"/>
              </a:lnSpc>
              <a:spcBef>
                <a:spcPct val="0"/>
              </a:spcBef>
            </a:pPr>
            <a:endParaRPr lang="en-US" sz="2551" spc="-76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1061" y="733425"/>
            <a:ext cx="10699898" cy="57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1" b="1" spc="-9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FUNCIONES OBLIGATORIAS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34292" y="8962088"/>
            <a:ext cx="2024707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9260" y="8962088"/>
            <a:ext cx="2137740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OPERACIÓN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14500"/>
            <a:chOff x="0" y="0"/>
            <a:chExt cx="4816593" cy="451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51556"/>
            </a:xfrm>
            <a:custGeom>
              <a:avLst/>
              <a:gdLst/>
              <a:ahLst/>
              <a:cxnLst/>
              <a:rect l="l" t="t" r="r" b="b"/>
              <a:pathLst>
                <a:path w="4816592" h="451556">
                  <a:moveTo>
                    <a:pt x="0" y="0"/>
                  </a:moveTo>
                  <a:lnTo>
                    <a:pt x="4816592" y="0"/>
                  </a:lnTo>
                  <a:lnTo>
                    <a:pt x="4816592" y="451556"/>
                  </a:lnTo>
                  <a:lnTo>
                    <a:pt x="0" y="45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16593" cy="55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18284"/>
            <a:chOff x="0" y="0"/>
            <a:chExt cx="4816593" cy="162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62840"/>
            </a:xfrm>
            <a:custGeom>
              <a:avLst/>
              <a:gdLst/>
              <a:ahLst/>
              <a:cxnLst/>
              <a:rect l="l" t="t" r="r" b="b"/>
              <a:pathLst>
                <a:path w="4816592" h="162840">
                  <a:moveTo>
                    <a:pt x="0" y="0"/>
                  </a:moveTo>
                  <a:lnTo>
                    <a:pt x="4816592" y="0"/>
                  </a:lnTo>
                  <a:lnTo>
                    <a:pt x="4816592" y="162840"/>
                  </a:lnTo>
                  <a:lnTo>
                    <a:pt x="0" y="162840"/>
                  </a:lnTo>
                  <a:close/>
                </a:path>
              </a:pathLst>
            </a:custGeom>
            <a:solidFill>
              <a:srgbClr val="576D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4816593" cy="26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5951455" y="7665955"/>
            <a:ext cx="12585032" cy="682121"/>
            <a:chOff x="0" y="0"/>
            <a:chExt cx="3314576" cy="1796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14576" cy="179653"/>
            </a:xfrm>
            <a:custGeom>
              <a:avLst/>
              <a:gdLst/>
              <a:ahLst/>
              <a:cxnLst/>
              <a:rect l="l" t="t" r="r" b="b"/>
              <a:pathLst>
                <a:path w="3314576" h="179653">
                  <a:moveTo>
                    <a:pt x="0" y="0"/>
                  </a:moveTo>
                  <a:lnTo>
                    <a:pt x="3314576" y="0"/>
                  </a:lnTo>
                  <a:lnTo>
                    <a:pt x="3314576" y="179653"/>
                  </a:lnTo>
                  <a:lnTo>
                    <a:pt x="0" y="17965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3314576" cy="2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308" y="2415470"/>
            <a:ext cx="8292897" cy="6293424"/>
          </a:xfrm>
          <a:custGeom>
            <a:avLst/>
            <a:gdLst/>
            <a:ahLst/>
            <a:cxnLst/>
            <a:rect l="l" t="t" r="r" b="b"/>
            <a:pathLst>
              <a:path w="8292897" h="6293424">
                <a:moveTo>
                  <a:pt x="0" y="0"/>
                </a:moveTo>
                <a:lnTo>
                  <a:pt x="8292897" y="0"/>
                </a:lnTo>
                <a:lnTo>
                  <a:pt x="8292897" y="6293424"/>
                </a:lnTo>
                <a:lnTo>
                  <a:pt x="0" y="6293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707537" y="2550687"/>
            <a:ext cx="8238024" cy="6158208"/>
          </a:xfrm>
          <a:custGeom>
            <a:avLst/>
            <a:gdLst/>
            <a:ahLst/>
            <a:cxnLst/>
            <a:rect l="l" t="t" r="r" b="b"/>
            <a:pathLst>
              <a:path w="8238024" h="6158208">
                <a:moveTo>
                  <a:pt x="0" y="0"/>
                </a:moveTo>
                <a:lnTo>
                  <a:pt x="8238024" y="0"/>
                </a:lnTo>
                <a:lnTo>
                  <a:pt x="8238024" y="6158207"/>
                </a:lnTo>
                <a:lnTo>
                  <a:pt x="0" y="6158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1061" y="12930"/>
            <a:ext cx="2859339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s-PA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</a:t>
            </a: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ISUAL STUDIO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" y="1741202"/>
            <a:ext cx="510824" cy="874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</a:t>
            </a:r>
          </a:p>
          <a:p>
            <a:pPr algn="r">
              <a:lnSpc>
                <a:spcPts val="3571"/>
              </a:lnSpc>
              <a:spcBef>
                <a:spcPct val="0"/>
              </a:spcBef>
            </a:pPr>
            <a:endParaRPr lang="en-US" sz="2551" spc="-76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1061" y="733425"/>
            <a:ext cx="10699898" cy="57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1" b="1" spc="-9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FUNCIONES OPCIONALES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34292" y="8962088"/>
            <a:ext cx="1719907" cy="447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9260" y="8962088"/>
            <a:ext cx="1909140" cy="447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OPERACIÓN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14500"/>
            <a:chOff x="0" y="0"/>
            <a:chExt cx="4816593" cy="451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51556"/>
            </a:xfrm>
            <a:custGeom>
              <a:avLst/>
              <a:gdLst/>
              <a:ahLst/>
              <a:cxnLst/>
              <a:rect l="l" t="t" r="r" b="b"/>
              <a:pathLst>
                <a:path w="4816592" h="451556">
                  <a:moveTo>
                    <a:pt x="0" y="0"/>
                  </a:moveTo>
                  <a:lnTo>
                    <a:pt x="4816592" y="0"/>
                  </a:lnTo>
                  <a:lnTo>
                    <a:pt x="4816592" y="451556"/>
                  </a:lnTo>
                  <a:lnTo>
                    <a:pt x="0" y="45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16593" cy="55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18284"/>
            <a:chOff x="0" y="0"/>
            <a:chExt cx="4816593" cy="162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62840"/>
            </a:xfrm>
            <a:custGeom>
              <a:avLst/>
              <a:gdLst/>
              <a:ahLst/>
              <a:cxnLst/>
              <a:rect l="l" t="t" r="r" b="b"/>
              <a:pathLst>
                <a:path w="4816592" h="162840">
                  <a:moveTo>
                    <a:pt x="0" y="0"/>
                  </a:moveTo>
                  <a:lnTo>
                    <a:pt x="4816592" y="0"/>
                  </a:lnTo>
                  <a:lnTo>
                    <a:pt x="4816592" y="162840"/>
                  </a:lnTo>
                  <a:lnTo>
                    <a:pt x="0" y="162840"/>
                  </a:lnTo>
                  <a:close/>
                </a:path>
              </a:pathLst>
            </a:custGeom>
            <a:solidFill>
              <a:srgbClr val="576D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4816593" cy="26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5951455" y="7665955"/>
            <a:ext cx="12585032" cy="682121"/>
            <a:chOff x="0" y="0"/>
            <a:chExt cx="3314576" cy="1796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14576" cy="179653"/>
            </a:xfrm>
            <a:custGeom>
              <a:avLst/>
              <a:gdLst/>
              <a:ahLst/>
              <a:cxnLst/>
              <a:rect l="l" t="t" r="r" b="b"/>
              <a:pathLst>
                <a:path w="3314576" h="179653">
                  <a:moveTo>
                    <a:pt x="0" y="0"/>
                  </a:moveTo>
                  <a:lnTo>
                    <a:pt x="3314576" y="0"/>
                  </a:lnTo>
                  <a:lnTo>
                    <a:pt x="3314576" y="179653"/>
                  </a:lnTo>
                  <a:lnTo>
                    <a:pt x="0" y="17965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3314576" cy="2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4112451" y="1952625"/>
            <a:ext cx="10063099" cy="7642353"/>
          </a:xfrm>
          <a:custGeom>
            <a:avLst/>
            <a:gdLst/>
            <a:ahLst/>
            <a:cxnLst/>
            <a:rect l="l" t="t" r="r" b="b"/>
            <a:pathLst>
              <a:path w="10063099" h="7642353">
                <a:moveTo>
                  <a:pt x="0" y="0"/>
                </a:moveTo>
                <a:lnTo>
                  <a:pt x="10063098" y="0"/>
                </a:lnTo>
                <a:lnTo>
                  <a:pt x="10063098" y="7642354"/>
                </a:lnTo>
                <a:lnTo>
                  <a:pt x="0" y="7642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41061" y="12931"/>
            <a:ext cx="2630739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s-PA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</a:t>
            </a: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ISUAL STUDIO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" y="1741202"/>
            <a:ext cx="510824" cy="874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</a:t>
            </a:r>
          </a:p>
          <a:p>
            <a:pPr algn="r">
              <a:lnSpc>
                <a:spcPts val="3571"/>
              </a:lnSpc>
              <a:spcBef>
                <a:spcPct val="0"/>
              </a:spcBef>
            </a:pPr>
            <a:endParaRPr lang="en-US" sz="2551" spc="-76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41061" y="733425"/>
            <a:ext cx="10699898" cy="51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1" b="1" spc="-9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HISTORIAL DE CÁLCULOS FUNCIONANDO 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14500"/>
            <a:chOff x="0" y="0"/>
            <a:chExt cx="4816593" cy="451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51556"/>
            </a:xfrm>
            <a:custGeom>
              <a:avLst/>
              <a:gdLst/>
              <a:ahLst/>
              <a:cxnLst/>
              <a:rect l="l" t="t" r="r" b="b"/>
              <a:pathLst>
                <a:path w="4816592" h="451556">
                  <a:moveTo>
                    <a:pt x="0" y="0"/>
                  </a:moveTo>
                  <a:lnTo>
                    <a:pt x="4816592" y="0"/>
                  </a:lnTo>
                  <a:lnTo>
                    <a:pt x="4816592" y="451556"/>
                  </a:lnTo>
                  <a:lnTo>
                    <a:pt x="0" y="45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16593" cy="55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18284"/>
            <a:chOff x="0" y="0"/>
            <a:chExt cx="4816593" cy="162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62840"/>
            </a:xfrm>
            <a:custGeom>
              <a:avLst/>
              <a:gdLst/>
              <a:ahLst/>
              <a:cxnLst/>
              <a:rect l="l" t="t" r="r" b="b"/>
              <a:pathLst>
                <a:path w="4816592" h="162840">
                  <a:moveTo>
                    <a:pt x="0" y="0"/>
                  </a:moveTo>
                  <a:lnTo>
                    <a:pt x="4816592" y="0"/>
                  </a:lnTo>
                  <a:lnTo>
                    <a:pt x="4816592" y="162840"/>
                  </a:lnTo>
                  <a:lnTo>
                    <a:pt x="0" y="162840"/>
                  </a:lnTo>
                  <a:close/>
                </a:path>
              </a:pathLst>
            </a:custGeom>
            <a:solidFill>
              <a:srgbClr val="576D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4816593" cy="26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5951455" y="7665955"/>
            <a:ext cx="12585032" cy="682121"/>
            <a:chOff x="0" y="0"/>
            <a:chExt cx="3314576" cy="1796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14576" cy="179653"/>
            </a:xfrm>
            <a:custGeom>
              <a:avLst/>
              <a:gdLst/>
              <a:ahLst/>
              <a:cxnLst/>
              <a:rect l="l" t="t" r="r" b="b"/>
              <a:pathLst>
                <a:path w="3314576" h="179653">
                  <a:moveTo>
                    <a:pt x="0" y="0"/>
                  </a:moveTo>
                  <a:lnTo>
                    <a:pt x="3314576" y="0"/>
                  </a:lnTo>
                  <a:lnTo>
                    <a:pt x="3314576" y="179653"/>
                  </a:lnTo>
                  <a:lnTo>
                    <a:pt x="0" y="17965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3314576" cy="2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61830" y="2244283"/>
            <a:ext cx="8319011" cy="6260158"/>
          </a:xfrm>
          <a:custGeom>
            <a:avLst/>
            <a:gdLst/>
            <a:ahLst/>
            <a:cxnLst/>
            <a:rect l="l" t="t" r="r" b="b"/>
            <a:pathLst>
              <a:path w="8319011" h="6260158">
                <a:moveTo>
                  <a:pt x="0" y="0"/>
                </a:moveTo>
                <a:lnTo>
                  <a:pt x="8319011" y="0"/>
                </a:lnTo>
                <a:lnTo>
                  <a:pt x="8319011" y="6260159"/>
                </a:lnTo>
                <a:lnTo>
                  <a:pt x="0" y="6260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752111" y="2244283"/>
            <a:ext cx="8319011" cy="6292797"/>
          </a:xfrm>
          <a:custGeom>
            <a:avLst/>
            <a:gdLst/>
            <a:ahLst/>
            <a:cxnLst/>
            <a:rect l="l" t="t" r="r" b="b"/>
            <a:pathLst>
              <a:path w="8319011" h="6292797">
                <a:moveTo>
                  <a:pt x="0" y="0"/>
                </a:moveTo>
                <a:lnTo>
                  <a:pt x="8319012" y="0"/>
                </a:lnTo>
                <a:lnTo>
                  <a:pt x="8319012" y="6292797"/>
                </a:lnTo>
                <a:lnTo>
                  <a:pt x="0" y="6292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1061" y="12930"/>
            <a:ext cx="2706939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s-PA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</a:t>
            </a: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ISUAL STUDIO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" y="1741202"/>
            <a:ext cx="510824" cy="874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</a:t>
            </a:r>
          </a:p>
          <a:p>
            <a:pPr algn="r">
              <a:lnSpc>
                <a:spcPts val="3571"/>
              </a:lnSpc>
              <a:spcBef>
                <a:spcPct val="0"/>
              </a:spcBef>
            </a:pPr>
            <a:endParaRPr lang="en-US" sz="2551" spc="-76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078972" y="8770652"/>
            <a:ext cx="1780027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15344" y="8770652"/>
            <a:ext cx="1480656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BOTÓN 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061" y="733425"/>
            <a:ext cx="10699898" cy="57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1" b="1" spc="-9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OTRAS FUNCIONES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714500"/>
            <a:chOff x="0" y="0"/>
            <a:chExt cx="4816593" cy="451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51556"/>
            </a:xfrm>
            <a:custGeom>
              <a:avLst/>
              <a:gdLst/>
              <a:ahLst/>
              <a:cxnLst/>
              <a:rect l="l" t="t" r="r" b="b"/>
              <a:pathLst>
                <a:path w="4816592" h="451556">
                  <a:moveTo>
                    <a:pt x="0" y="0"/>
                  </a:moveTo>
                  <a:lnTo>
                    <a:pt x="4816592" y="0"/>
                  </a:lnTo>
                  <a:lnTo>
                    <a:pt x="4816592" y="451556"/>
                  </a:lnTo>
                  <a:lnTo>
                    <a:pt x="0" y="45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16593" cy="55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18284"/>
            <a:chOff x="0" y="0"/>
            <a:chExt cx="4816593" cy="162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62840"/>
            </a:xfrm>
            <a:custGeom>
              <a:avLst/>
              <a:gdLst/>
              <a:ahLst/>
              <a:cxnLst/>
              <a:rect l="l" t="t" r="r" b="b"/>
              <a:pathLst>
                <a:path w="4816592" h="162840">
                  <a:moveTo>
                    <a:pt x="0" y="0"/>
                  </a:moveTo>
                  <a:lnTo>
                    <a:pt x="4816592" y="0"/>
                  </a:lnTo>
                  <a:lnTo>
                    <a:pt x="4816592" y="162840"/>
                  </a:lnTo>
                  <a:lnTo>
                    <a:pt x="0" y="162840"/>
                  </a:lnTo>
                  <a:close/>
                </a:path>
              </a:pathLst>
            </a:custGeom>
            <a:solidFill>
              <a:srgbClr val="576D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4816593" cy="26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5951455" y="7665955"/>
            <a:ext cx="12585032" cy="682121"/>
            <a:chOff x="0" y="0"/>
            <a:chExt cx="3314576" cy="1796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14576" cy="179653"/>
            </a:xfrm>
            <a:custGeom>
              <a:avLst/>
              <a:gdLst/>
              <a:ahLst/>
              <a:cxnLst/>
              <a:rect l="l" t="t" r="r" b="b"/>
              <a:pathLst>
                <a:path w="3314576" h="179653">
                  <a:moveTo>
                    <a:pt x="0" y="0"/>
                  </a:moveTo>
                  <a:lnTo>
                    <a:pt x="3314576" y="0"/>
                  </a:lnTo>
                  <a:lnTo>
                    <a:pt x="3314576" y="179653"/>
                  </a:lnTo>
                  <a:lnTo>
                    <a:pt x="0" y="17965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3314576" cy="2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4390" y="2124366"/>
            <a:ext cx="8280283" cy="6287789"/>
          </a:xfrm>
          <a:custGeom>
            <a:avLst/>
            <a:gdLst/>
            <a:ahLst/>
            <a:cxnLst/>
            <a:rect l="l" t="t" r="r" b="b"/>
            <a:pathLst>
              <a:path w="8280283" h="6287789">
                <a:moveTo>
                  <a:pt x="0" y="0"/>
                </a:moveTo>
                <a:lnTo>
                  <a:pt x="8280283" y="0"/>
                </a:lnTo>
                <a:lnTo>
                  <a:pt x="8280283" y="6287789"/>
                </a:lnTo>
                <a:lnTo>
                  <a:pt x="0" y="6287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696526" y="2249127"/>
            <a:ext cx="8094003" cy="6163028"/>
          </a:xfrm>
          <a:custGeom>
            <a:avLst/>
            <a:gdLst/>
            <a:ahLst/>
            <a:cxnLst/>
            <a:rect l="l" t="t" r="r" b="b"/>
            <a:pathLst>
              <a:path w="8094003" h="6163028">
                <a:moveTo>
                  <a:pt x="0" y="0"/>
                </a:moveTo>
                <a:lnTo>
                  <a:pt x="8094003" y="0"/>
                </a:lnTo>
                <a:lnTo>
                  <a:pt x="8094003" y="6163028"/>
                </a:lnTo>
                <a:lnTo>
                  <a:pt x="0" y="6163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1061" y="12930"/>
            <a:ext cx="2325939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s-PA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</a:t>
            </a: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ISUAL STUDIO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" y="1741202"/>
            <a:ext cx="510824" cy="874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11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12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13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15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16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17</a:t>
            </a:r>
          </a:p>
          <a:p>
            <a:pPr algn="r">
              <a:lnSpc>
                <a:spcPts val="3571"/>
              </a:lnSpc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18</a:t>
            </a:r>
          </a:p>
          <a:p>
            <a:pPr algn="r">
              <a:lnSpc>
                <a:spcPts val="3571"/>
              </a:lnSpc>
              <a:spcBef>
                <a:spcPct val="0"/>
              </a:spcBef>
            </a:pPr>
            <a:endParaRPr lang="en-US" sz="2551" spc="-76" dirty="0">
              <a:solidFill>
                <a:srgbClr val="FFFFF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51163" y="8545504"/>
            <a:ext cx="1930414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RESULTADO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46585" y="8545505"/>
            <a:ext cx="1930415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BOTÓN 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1061" y="733425"/>
            <a:ext cx="10699898" cy="57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1" b="1" spc="-9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OTRAS FUNCIONES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125967"/>
            <a:ext cx="18288000" cy="8161033"/>
            <a:chOff x="0" y="0"/>
            <a:chExt cx="4816593" cy="21494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149408"/>
            </a:xfrm>
            <a:custGeom>
              <a:avLst/>
              <a:gdLst/>
              <a:ahLst/>
              <a:cxnLst/>
              <a:rect l="l" t="t" r="r" b="b"/>
              <a:pathLst>
                <a:path w="4816592" h="2149408">
                  <a:moveTo>
                    <a:pt x="0" y="0"/>
                  </a:moveTo>
                  <a:lnTo>
                    <a:pt x="4816592" y="0"/>
                  </a:lnTo>
                  <a:lnTo>
                    <a:pt x="4816592" y="2149408"/>
                  </a:lnTo>
                  <a:lnTo>
                    <a:pt x="0" y="2149408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4816593" cy="2254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666750"/>
            <a:ext cx="11201400" cy="2918433"/>
            <a:chOff x="0" y="0"/>
            <a:chExt cx="14935200" cy="389124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b="1" spc="-240">
                  <a:solidFill>
                    <a:srgbClr val="F4F6FC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Conclusión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428964"/>
              <a:ext cx="110998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35200"/>
              <a:ext cx="130175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50595" y="2634451"/>
            <a:ext cx="7856621" cy="675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 proyecto logra integrar de manera efectiva los conceptos de programación, bases de datos y diseño de interfaces gráficas.</a:t>
            </a:r>
          </a:p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La aplicación cumple con su propósito al permitir realizar operaciones matemáticas básicas y avanzadas, además de almacenar un registro de los resultados en una base de datos para su posterior consulta.</a:t>
            </a:r>
          </a:p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Gracias a la combinación de C# con Windows Forms y SQL Server, se obtiene una calculadora funcional, visualmente amigable y con un manejo adecuado de los datos y errores.</a:t>
            </a:r>
          </a:p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En conjunto, el sistema representa una solución práctica y bien estructurada que demuestra el uso coordinado de distintas herramientas de desarrollo.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B461F92C-6060-A6AF-21E9-DBF5D4602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C2114DD-FDF7-1862-35B4-6447E56C6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132" y="3105908"/>
            <a:ext cx="6606339" cy="620114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97267" y="1374088"/>
            <a:ext cx="10293467" cy="5806277"/>
            <a:chOff x="0" y="0"/>
            <a:chExt cx="13724622" cy="7741703"/>
          </a:xfrm>
        </p:grpSpPr>
        <p:sp>
          <p:nvSpPr>
            <p:cNvPr id="3" name="TextBox 3"/>
            <p:cNvSpPr txBox="1"/>
            <p:nvPr/>
          </p:nvSpPr>
          <p:spPr>
            <a:xfrm rot="-516000">
              <a:off x="240783" y="1377707"/>
              <a:ext cx="12625077" cy="3255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188"/>
                </a:lnSpc>
              </a:pPr>
              <a:r>
                <a:rPr lang="en-US" sz="18285" u="none" strike="noStrike">
                  <a:solidFill>
                    <a:srgbClr val="FEF8D8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¡Muchas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 rot="-516000">
              <a:off x="2325609" y="4209969"/>
              <a:ext cx="11260065" cy="2705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4200"/>
                </a:lnSpc>
              </a:pPr>
              <a:r>
                <a:rPr lang="en-US" sz="15106" u="none" strike="noStrike">
                  <a:solidFill>
                    <a:srgbClr val="FEF8D8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gracias!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858000" y="8770652"/>
            <a:ext cx="4275881" cy="431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 spc="-76" dirty="0">
                <a:solidFill>
                  <a:srgbClr val="FEF8D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ESPACIO PARA PREGUNTAS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629</Words>
  <Application>Microsoft Office PowerPoint</Application>
  <PresentationFormat>Personalizado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Bukhari Script</vt:lpstr>
      <vt:lpstr>ITC Avant Garde Gothic Bold</vt:lpstr>
      <vt:lpstr>Calibri</vt:lpstr>
      <vt:lpstr>TT Fors Bold</vt:lpstr>
      <vt:lpstr>Arial</vt:lpstr>
      <vt:lpstr>ITC Avant Garde Gothic</vt:lpstr>
      <vt:lpstr>TT Fors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Crea Tu Propia Calculadora</dc:title>
  <dc:description>Presentación - Crea Tu Propia Calculadora</dc:description>
  <cp:lastModifiedBy>MARLENI BARRIA</cp:lastModifiedBy>
  <cp:revision>5</cp:revision>
  <dcterms:created xsi:type="dcterms:W3CDTF">2006-08-16T00:00:00Z</dcterms:created>
  <dcterms:modified xsi:type="dcterms:W3CDTF">2025-10-29T22:21:48Z</dcterms:modified>
  <dc:identifier>DAG28h3ODnw</dc:identifier>
</cp:coreProperties>
</file>